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498080" y="-548640"/>
            <a:ext cx="1828800" cy="1828800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640080" y="3566160"/>
            <a:ext cx="2011680" cy="2011680"/>
          </a:xfrm>
          <a:prstGeom prst="rect">
            <a:avLst/>
          </a:prstGeom>
          <a:solidFill>
            <a:srgbClr val="F5A623">
              <a:alpha val="35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3108960" y="914400"/>
            <a:ext cx="2926080" cy="2926080"/>
          </a:xfrm>
          <a:prstGeom prst="rect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6400800" y="3017520"/>
            <a:ext cx="914400" cy="914400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1234440" y="868680"/>
            <a:ext cx="822960" cy="822960"/>
          </a:xfrm>
          <a:prstGeom prst="rect">
            <a:avLst/>
          </a:prstGeom>
          <a:solidFill>
            <a:srgbClr val="F5A623">
              <a:alpha val="42000"/>
            </a:srgbClr>
          </a:solidFill>
          <a:ln w="12700">
            <a:solidFill>
              <a:srgbClr val="F5A623">
                <a:alpha val="2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 DIVISION A  •  3RD GRADE  •  2025–2026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Tower Building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Project Slides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2852928"/>
            <a:ext cx="2743200" cy="36576"/>
          </a:xfrm>
          <a:prstGeom prst="rect">
            <a:avLst/>
          </a:prstGeom>
          <a:solidFill>
            <a:srgbClr val="F5A623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" y="3200400"/>
            <a:ext cx="2779776" cy="402336"/>
          </a:xfrm>
          <a:prstGeom prst="rect">
            <a:avLst/>
          </a:prstGeom>
          <a:solidFill>
            <a:srgbClr val="132230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3200400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63824" y="3200400"/>
            <a:ext cx="2779776" cy="402336"/>
          </a:xfrm>
          <a:prstGeom prst="rect">
            <a:avLst/>
          </a:prstGeom>
          <a:solidFill>
            <a:srgbClr val="132230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3200400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Formula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3200400"/>
            <a:ext cx="2779776" cy="402336"/>
          </a:xfrm>
          <a:prstGeom prst="rect">
            <a:avLst/>
          </a:prstGeom>
          <a:solidFill>
            <a:srgbClr val="132230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3200400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675888"/>
            <a:ext cx="2779776" cy="402336"/>
          </a:xfrm>
          <a:prstGeom prst="rect">
            <a:avLst/>
          </a:prstGeom>
          <a:solidFill>
            <a:srgbClr val="0D1520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67588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63824" y="3675888"/>
            <a:ext cx="2779776" cy="402336"/>
          </a:xfrm>
          <a:prstGeom prst="rect">
            <a:avLst/>
          </a:prstGeom>
          <a:solidFill>
            <a:srgbClr val="0D1520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4" y="3675888"/>
            <a:ext cx="27797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Tips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793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freestanding tower using only paper straws &amp; masking tape that holds 300 grams for 20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Event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Building  •  Slide 1 of 10  •  VA Division A 2025–2026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2212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2212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172212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2212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total session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564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564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21564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1564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Straws provided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m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tape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0268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268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20268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300g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0268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to hold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96200" y="1097280"/>
            <a:ext cx="1402080" cy="100584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96200" y="1097280"/>
            <a:ext cx="14020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7696200" y="1225296"/>
            <a:ext cx="140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696200" y="1700784"/>
            <a:ext cx="140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8600" y="2231136"/>
            <a:ext cx="8686800" cy="658368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30428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the TALLEST freestanding tower possible that supports a 300-gram mass for 20 seconds. Score = Height + Written Assessment (each worth 50 points).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2999232"/>
            <a:ext cx="4224528" cy="420624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63040" y="30906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paper straws (~20cm each) + 1 meter of 2.54cm masking tape. Scissors at event. NOTHING else.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1728" y="2999232"/>
            <a:ext cx="4224528" cy="420624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090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platform: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16168" y="30906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MUST have a flat area at the top to place the 5×5×0.6cm plywood block.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456432"/>
            <a:ext cx="4224528" cy="420624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63040" y="35478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support parts rest on the flat surface. No sticky tape may touch the surface.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81728" y="3456432"/>
            <a:ext cx="4224528" cy="420624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16168" y="35478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to nearest mm BEFORE the load is placed. Block height is NOT counted.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913632"/>
            <a:ext cx="4224528" cy="420624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463040" y="40050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places 300g on the block and removes their hand. Timer starts immediately.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3913632"/>
            <a:ext cx="4224528" cy="420624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4005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ends: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916168" y="40050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tower fails OR 20 seconds elapse. Recorded to 1/100 of a second.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28600" y="4370832"/>
            <a:ext cx="4224528" cy="420624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straws: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63040" y="44622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records unused straws — affects tiebreaker. Use nearly all 30!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81728" y="4370832"/>
            <a:ext cx="4224528" cy="420624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16168" y="446227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 Z87+ impact glasses required. Bring your own — not provided.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Official Scoring Formula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Building  •  Slide 2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7132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115568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Score (FS) = Assessment Score (TAS) + Height Score (THS)  •  Maximum = 100 points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" y="1865376"/>
            <a:ext cx="2011680" cy="347472"/>
          </a:xfrm>
          <a:prstGeom prst="rect">
            <a:avLst/>
          </a:prstGeom>
          <a:solidFill>
            <a:srgbClr val="F5A623">
              <a:alpha val="7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90195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1865376"/>
            <a:ext cx="4754880" cy="347472"/>
          </a:xfrm>
          <a:prstGeom prst="rect">
            <a:avLst/>
          </a:prstGeom>
          <a:solidFill>
            <a:srgbClr val="F5A623">
              <a:alpha val="7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313432" y="190195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 / Rule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1865376"/>
            <a:ext cx="1920240" cy="347472"/>
          </a:xfrm>
          <a:prstGeom prst="rect">
            <a:avLst/>
          </a:prstGeom>
          <a:solidFill>
            <a:srgbClr val="F5A623">
              <a:alpha val="7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068312" y="190195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5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267712"/>
            <a:ext cx="20116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34086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Score (TAS)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2267712"/>
            <a:ext cx="47548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20" name="Text 18"/>
          <p:cNvSpPr/>
          <p:nvPr/>
        </p:nvSpPr>
        <p:spPr>
          <a:xfrm>
            <a:off x="2313432" y="2340864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score ÷ Best assessment score) × 50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95160" y="2267712"/>
            <a:ext cx="192024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234086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670048"/>
            <a:ext cx="201168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27432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Score (THS)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0280" y="2670048"/>
            <a:ext cx="475488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26" name="Text 24"/>
          <p:cNvSpPr/>
          <p:nvPr/>
        </p:nvSpPr>
        <p:spPr>
          <a:xfrm>
            <a:off x="2313432" y="2743200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height in mm ÷ Tallest height among all teams) × 50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95160" y="2670048"/>
            <a:ext cx="192024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28" name="Text 26"/>
          <p:cNvSpPr/>
          <p:nvPr/>
        </p:nvSpPr>
        <p:spPr>
          <a:xfrm>
            <a:off x="7068312" y="274320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50 pts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3072384"/>
            <a:ext cx="20116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0" name="Text 28"/>
          <p:cNvSpPr/>
          <p:nvPr/>
        </p:nvSpPr>
        <p:spPr>
          <a:xfrm>
            <a:off x="301752" y="314553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40280" y="3072384"/>
            <a:ext cx="47548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2" name="Text 30"/>
          <p:cNvSpPr/>
          <p:nvPr/>
        </p:nvSpPr>
        <p:spPr>
          <a:xfrm>
            <a:off x="2313432" y="314553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structural failure — longer hold = wins tie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95160" y="3072384"/>
            <a:ext cx="192024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34" name="Text 32"/>
          <p:cNvSpPr/>
          <p:nvPr/>
        </p:nvSpPr>
        <p:spPr>
          <a:xfrm>
            <a:off x="7068312" y="314553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primary score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8600" y="3474720"/>
            <a:ext cx="201168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" y="3547872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3474720"/>
            <a:ext cx="475488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38" name="Text 36"/>
          <p:cNvSpPr/>
          <p:nvPr/>
        </p:nvSpPr>
        <p:spPr>
          <a:xfrm>
            <a:off x="2313432" y="3547872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unused straws — use them all!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95160" y="3474720"/>
            <a:ext cx="1920240" cy="384048"/>
          </a:xfrm>
          <a:prstGeom prst="rect">
            <a:avLst/>
          </a:prstGeom>
          <a:solidFill>
            <a:srgbClr val="0A1828"/>
          </a:solidFill>
          <a:ln/>
        </p:spPr>
      </p:sp>
      <p:sp>
        <p:nvSpPr>
          <p:cNvPr id="40" name="Text 38"/>
          <p:cNvSpPr/>
          <p:nvPr/>
        </p:nvSpPr>
        <p:spPr>
          <a:xfrm>
            <a:off x="7068312" y="35478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tiebreaker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3877056"/>
            <a:ext cx="20116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42" name="Text 40"/>
          <p:cNvSpPr/>
          <p:nvPr/>
        </p:nvSpPr>
        <p:spPr>
          <a:xfrm>
            <a:off x="301752" y="39502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Tiebreaker 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40280" y="3877056"/>
            <a:ext cx="475488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44" name="Text 42"/>
          <p:cNvSpPr/>
          <p:nvPr/>
        </p:nvSpPr>
        <p:spPr>
          <a:xfrm>
            <a:off x="2313432" y="3950208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assessment score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95160" y="3877056"/>
            <a:ext cx="1920240" cy="384048"/>
          </a:xfrm>
          <a:prstGeom prst="rect">
            <a:avLst/>
          </a:prstGeom>
          <a:solidFill>
            <a:srgbClr val="0D1F30"/>
          </a:solidFill>
          <a:ln/>
        </p:spPr>
      </p:sp>
      <p:sp>
        <p:nvSpPr>
          <p:cNvPr id="46" name="Text 44"/>
          <p:cNvSpPr/>
          <p:nvPr/>
        </p:nvSpPr>
        <p:spPr>
          <a:xfrm>
            <a:off x="7068312" y="3950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tiebreaker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8600" y="4334256"/>
            <a:ext cx="8686800" cy="438912"/>
          </a:xfrm>
          <a:prstGeom prst="rect">
            <a:avLst/>
          </a:prstGeom>
          <a:solidFill>
            <a:srgbClr val="08142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47472" y="43891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Example: Best height = 450mm. Your height = 375mm → THS = (375÷450)×50 = 41.67 pts.  Best assessment = 9, you score 4 → TAS = (4÷9)×50 = 22.22 pts.  Final Score = 63.89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Official Materials Kit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Building  •  Slide 3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51560"/>
            <a:ext cx="8686800" cy="73152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51560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124712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🥤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70432" y="11247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drinking straws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70432" y="1453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cm each. May be cut to any length or left whole.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38928" y="1188720"/>
            <a:ext cx="1325880" cy="457200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118872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straws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1124712"/>
            <a:ext cx="2103120" cy="585216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2710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members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1856232"/>
            <a:ext cx="8686800" cy="73152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856232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1929384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🩹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70432" y="1929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Masking tape (2.54 cm / 1" wide)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70432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cut to any shape or size. Only connection material allowed.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38928" y="1993392"/>
            <a:ext cx="1325880" cy="457200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199339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meter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1929384"/>
            <a:ext cx="2103120" cy="585216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0756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660904"/>
            <a:ext cx="8686800" cy="73152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660904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2734056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170432" y="2734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300-gram test mass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70432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 top of the wood block during the test phase.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2798064"/>
            <a:ext cx="1325880" cy="457200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279806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2734056"/>
            <a:ext cx="2103120" cy="585216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28803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465576"/>
            <a:ext cx="8686800" cy="73152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465576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538728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🪵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170432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Plywood block (5×5×0.6 cm)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70432" y="3867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 top of tower. Its height is NOT added to the measured tower height.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138928" y="3602736"/>
            <a:ext cx="1325880" cy="457200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38928" y="360273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block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583680" y="3538728"/>
            <a:ext cx="2103120" cy="585216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36850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top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270248"/>
            <a:ext cx="8686800" cy="731520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270248"/>
            <a:ext cx="54864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4343400"/>
            <a:ext cx="640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✂️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170432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Scissors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170432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at the event for cutting straws and tape.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138928" y="4407408"/>
            <a:ext cx="1325880" cy="457200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138928" y="440740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event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583680" y="4343400"/>
            <a:ext cx="2103120" cy="585216"/>
          </a:xfrm>
          <a:prstGeom prst="rect">
            <a:avLst/>
          </a:prstGeom>
          <a:solidFill>
            <a:srgbClr val="091824"/>
          </a:solidFill>
          <a:ln/>
        </p:spPr>
      </p:sp>
      <p:sp>
        <p:nvSpPr>
          <p:cNvPr id="53" name="Text 51"/>
          <p:cNvSpPr/>
          <p:nvPr/>
        </p:nvSpPr>
        <p:spPr>
          <a:xfrm>
            <a:off x="6629400" y="44897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" y="5084064"/>
            <a:ext cx="8686800" cy="54864"/>
          </a:xfrm>
          <a:prstGeom prst="rect">
            <a:avLst/>
          </a:prstGeom>
          <a:solidFill>
            <a:srgbClr val="F5A623">
              <a:alpha val="6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BRING: ANSI Z87+ impact safety glasses (mandatory, not provided)  •  Writing utensils  •  Optional: ruler, protractor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Build Strategy — 45 Minutes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Building  •  Slide 4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402336" cy="1170432"/>
          </a:xfrm>
          <a:prstGeom prst="rect">
            <a:avLst/>
          </a:prstGeom>
          <a:solidFill>
            <a:srgbClr val="4FC3F7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078992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" y="1133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 roles immediately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" y="1426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min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2376" y="16276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leads the build; one takes the written test. Both must know the plan before the clock starts.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1078992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078992"/>
            <a:ext cx="402336" cy="1170432"/>
          </a:xfrm>
          <a:prstGeom prst="rect">
            <a:avLst/>
          </a:prstGeom>
          <a:solidFill>
            <a:srgbClr val="7BC67E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1078992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5504" y="1133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before building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75504" y="14264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2–7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75504" y="162763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tower. Decide: square or triangular base? How many tiers? Allocate straws: ~6 base, ~18 upper, ~4 diagonals, 2 reserve.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377440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377440"/>
            <a:ext cx="402336" cy="1170432"/>
          </a:xfrm>
          <a:prstGeom prst="rect">
            <a:avLst/>
          </a:prstGeom>
          <a:solidFill>
            <a:srgbClr val="F5A623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2377440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base — triangulate first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7–18 min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2376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bottom tier and add diagonal braces BEFORE going up. A square frame with no diagonals collapses sideways immediately.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81728" y="2377440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2377440"/>
            <a:ext cx="402336" cy="1170432"/>
          </a:xfrm>
          <a:prstGeom prst="rect">
            <a:avLst/>
          </a:prstGeom>
          <a:solidFill>
            <a:srgbClr val="E05C40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681728" y="2377440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75504" y="2432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in tiers — brace each level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175504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18–32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75504" y="29260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height in ~15 cm stages. Brace every tier before building the next. Check vertical alignment after every tier.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675888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675888"/>
            <a:ext cx="402336" cy="1170432"/>
          </a:xfrm>
          <a:prstGeom prst="rect">
            <a:avLst/>
          </a:prstGeom>
          <a:solidFill>
            <a:srgbClr val="9B79C7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3675888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2376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top platform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2376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7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32–38 min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" y="4224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2–3 straws in a flat cross pattern at the top. Must be flat and stable enough to hold the 5×5cm plywood block.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81728" y="3675888"/>
            <a:ext cx="4224528" cy="1170432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81728" y="3675888"/>
            <a:ext cx="402336" cy="1170432"/>
          </a:xfrm>
          <a:prstGeom prst="rect">
            <a:avLst/>
          </a:prstGeom>
          <a:solidFill>
            <a:srgbClr val="00BFA5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681728" y="3675888"/>
            <a:ext cx="402336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75504" y="3730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all straws + final checks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75504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38–45 min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75504" y="42245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final diagonal braces with remaining straws. Unused straws hurt tiebreaker. Check plumb and all joints before time is called.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Engineering Tips — What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371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C14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Building  •  Slide 5 of 10  •  VA Division A 2025–2026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78992"/>
            <a:ext cx="2743200" cy="3657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Triangulate every rectangle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diagonal to every rectangular frame. One diagonal straw turns a collapsible rectangle into two rigid triangles. This is the single most important rule.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7248" y="107899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1078992"/>
            <a:ext cx="274320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127248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18688" y="16642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 columns buckle less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18688" y="201168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column height makes it ~4× more resistant to buckling. Keep unsupported straw lengths to 15 cm or less. Add mid-height bracing on tall sections.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107899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1078992"/>
            <a:ext cx="2743200" cy="36576"/>
          </a:xfrm>
          <a:prstGeom prst="rect">
            <a:avLst/>
          </a:prstGeom>
          <a:solidFill>
            <a:srgbClr val="7BC67E"/>
          </a:solidFill>
          <a:ln/>
        </p:spPr>
      </p:sp>
      <p:sp>
        <p:nvSpPr>
          <p:cNvPr id="21" name="Text 19"/>
          <p:cNvSpPr/>
          <p:nvPr/>
        </p:nvSpPr>
        <p:spPr>
          <a:xfrm>
            <a:off x="6025896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🩹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17336" y="166420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C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 tape, don't just stick 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7336" y="201168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tape around a joint creates a compression band — far stronger than tape that just covers the surface. Overlap straws 2–3 cm before taping.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9923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99232"/>
            <a:ext cx="2743200" cy="36576"/>
          </a:xfrm>
          <a:prstGeom prst="rect">
            <a:avLst/>
          </a:prstGeom>
          <a:solidFill>
            <a:srgbClr val="E05C4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⬇️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0040" y="358444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Wide base, narrow top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931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pyramidal shape keeps the center of gravity low and the base wide — making the tower much harder to topple when the 300g mass is placed on top.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27248" y="299923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27248" y="2999232"/>
            <a:ext cx="2743200" cy="36576"/>
          </a:xfrm>
          <a:prstGeom prst="rect">
            <a:avLst/>
          </a:prstGeom>
          <a:solidFill>
            <a:srgbClr val="9B79C7"/>
          </a:solidFill>
          <a:ln/>
        </p:spPr>
      </p:sp>
      <p:sp>
        <p:nvSpPr>
          <p:cNvPr id="31" name="Text 29"/>
          <p:cNvSpPr/>
          <p:nvPr/>
        </p:nvSpPr>
        <p:spPr>
          <a:xfrm>
            <a:off x="3127248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218688" y="358444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9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plumb constantly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18688" y="3931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that looks small at 20 cm looks disqualifying at 50 cm. Use a straw or pencil held vertically to check alignment after every tier.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5896" y="2999232"/>
            <a:ext cx="2743200" cy="1773936"/>
          </a:xfrm>
          <a:prstGeom prst="rect">
            <a:avLst/>
          </a:prstGeom>
          <a:solidFill>
            <a:srgbClr val="0D1F30"/>
          </a:solidFill>
          <a:ln/>
          <a:effectLst>
            <a:outerShdw sx="100000" sy="100000" kx="0" ky="0" algn="bl" rotWithShape="0" blurRad="101600" dist="25400" dir="8100000">
              <a:srgbClr val="000000">
                <a:alpha val="3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2999232"/>
            <a:ext cx="2743200" cy="36576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36" name="Text 34"/>
          <p:cNvSpPr/>
          <p:nvPr/>
        </p:nvSpPr>
        <p:spPr>
          <a:xfrm>
            <a:off x="6025896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117336" y="358444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parts are equal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17336" y="3931920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and height are each worth 50 points. Know tower types, stability, center of gravity, and famous towers. A perfect test score beats a taller but weaker tower.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Tower Building — Project Slides</dc:title>
  <dc:subject>PptxGenJS Presentation</dc:subject>
  <dc:creator>PptxGenJS</dc:creator>
  <cp:lastModifiedBy>PptxGenJS</cp:lastModifiedBy>
  <cp:revision>1</cp:revision>
  <dcterms:created xsi:type="dcterms:W3CDTF">2026-03-14T19:33:53Z</dcterms:created>
  <dcterms:modified xsi:type="dcterms:W3CDTF">2026-03-14T19:33:53Z</dcterms:modified>
</cp:coreProperties>
</file>