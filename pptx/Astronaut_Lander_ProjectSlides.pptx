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02316" y="4429805"/>
            <a:ext cx="60311" cy="60311"/>
          </a:xfrm>
          <a:prstGeom prst="oval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5240" y="1803046"/>
            <a:ext cx="78734" cy="78734"/>
          </a:xfrm>
          <a:prstGeom prst="oval">
            <a:avLst/>
          </a:prstGeom>
          <a:solidFill>
            <a:srgbClr val="FFFFFF">
              <a:alpha val="2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4087" y="2978983"/>
            <a:ext cx="98332" cy="98332"/>
          </a:xfrm>
          <a:prstGeom prst="oval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47285" y="4414540"/>
            <a:ext cx="49730" cy="49730"/>
          </a:xfrm>
          <a:prstGeom prst="oval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2730" y="519783"/>
            <a:ext cx="91221" cy="91221"/>
          </a:xfrm>
          <a:prstGeom prst="oval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53813" y="3014934"/>
            <a:ext cx="46999" cy="46999"/>
          </a:xfrm>
          <a:prstGeom prst="oval">
            <a:avLst/>
          </a:prstGeom>
          <a:solidFill>
            <a:srgbClr val="FFFFFF">
              <a:alpha val="3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33223" y="487900"/>
            <a:ext cx="96931" cy="96931"/>
          </a:xfrm>
          <a:prstGeom prst="oval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9920" y="3512436"/>
            <a:ext cx="49210" cy="49210"/>
          </a:xfrm>
          <a:prstGeom prst="oval">
            <a:avLst/>
          </a:prstGeom>
          <a:solidFill>
            <a:srgbClr val="FFFFFF">
              <a:alpha val="2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300" y="3485829"/>
            <a:ext cx="73916" cy="73916"/>
          </a:xfrm>
          <a:prstGeom prst="oval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67850" y="1084309"/>
            <a:ext cx="79785" cy="79785"/>
          </a:xfrm>
          <a:prstGeom prst="oval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88964" y="2510245"/>
            <a:ext cx="62808" cy="62808"/>
          </a:xfrm>
          <a:prstGeom prst="oval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73366" y="1096773"/>
            <a:ext cx="80257" cy="80257"/>
          </a:xfrm>
          <a:prstGeom prst="oval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66944" y="338888"/>
            <a:ext cx="101876" cy="101876"/>
          </a:xfrm>
          <a:prstGeom prst="oval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38504" y="2062283"/>
            <a:ext cx="66043" cy="66043"/>
          </a:xfrm>
          <a:prstGeom prst="oval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52675" y="4958105"/>
            <a:ext cx="77212" cy="77212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1658" y="3903018"/>
            <a:ext cx="66450" cy="66450"/>
          </a:xfrm>
          <a:prstGeom prst="oval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1384" y="3660037"/>
            <a:ext cx="84827" cy="84827"/>
          </a:xfrm>
          <a:prstGeom prst="oval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128" y="3521960"/>
            <a:ext cx="62015" cy="62015"/>
          </a:xfrm>
          <a:prstGeom prst="oval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10128"/>
            <a:ext cx="9144000" cy="1833372"/>
          </a:xfrm>
          <a:prstGeom prst="rect">
            <a:avLst/>
          </a:prstGeom>
          <a:solidFill>
            <a:srgbClr val="0A0A2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700" kern="0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 DIVISION A  •  GRADES 3–4  •  2025–2026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84124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Astronaut Lander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457200" y="22128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Project Slides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56032" y="3401568"/>
            <a:ext cx="2779776" cy="384048"/>
          </a:xfrm>
          <a:prstGeom prst="rect">
            <a:avLst/>
          </a:prstGeom>
          <a:solidFill>
            <a:srgbClr val="151530">
              <a:alpha val="90000"/>
            </a:srgbClr>
          </a:solidFill>
          <a:ln w="12700">
            <a:solidFill>
              <a:srgbClr val="9B79C7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401568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Rules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63824" y="3401568"/>
            <a:ext cx="2779776" cy="384048"/>
          </a:xfrm>
          <a:prstGeom prst="rect">
            <a:avLst/>
          </a:prstGeom>
          <a:solidFill>
            <a:srgbClr val="151530">
              <a:alpha val="90000"/>
            </a:srgbClr>
          </a:solidFill>
          <a:ln w="12700">
            <a:solidFill>
              <a:srgbClr val="9B79C7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63824" y="3401568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Kit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71616" y="3401568"/>
            <a:ext cx="2779776" cy="384048"/>
          </a:xfrm>
          <a:prstGeom prst="rect">
            <a:avLst/>
          </a:prstGeom>
          <a:solidFill>
            <a:srgbClr val="151530">
              <a:alpha val="90000"/>
            </a:srgbClr>
          </a:solidFill>
          <a:ln w="12700">
            <a:solidFill>
              <a:srgbClr val="9B79C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71616" y="3401568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858768"/>
            <a:ext cx="2779776" cy="384048"/>
          </a:xfrm>
          <a:prstGeom prst="rect">
            <a:avLst/>
          </a:prstGeom>
          <a:solidFill>
            <a:srgbClr val="0A0A20">
              <a:alpha val="90000"/>
            </a:srgbClr>
          </a:solidFill>
          <a:ln w="12700">
            <a:solidFill>
              <a:srgbClr val="9B79C7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858768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Flight 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63824" y="3858768"/>
            <a:ext cx="2779776" cy="384048"/>
          </a:xfrm>
          <a:prstGeom prst="rect">
            <a:avLst/>
          </a:prstGeom>
          <a:solidFill>
            <a:srgbClr val="0A0A20">
              <a:alpha val="90000"/>
            </a:srgbClr>
          </a:solidFill>
          <a:ln w="12700">
            <a:solidFill>
              <a:srgbClr val="9B79C7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858768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Body in Space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71616" y="3858768"/>
            <a:ext cx="2779776" cy="384048"/>
          </a:xfrm>
          <a:prstGeom prst="rect">
            <a:avLst/>
          </a:prstGeom>
          <a:solidFill>
            <a:srgbClr val="0A0A20">
              <a:alpha val="90000"/>
            </a:srgbClr>
          </a:solidFill>
          <a:ln w="12700">
            <a:solidFill>
              <a:srgbClr val="9B79C7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71616" y="3858768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Tips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3159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device that keeps a marshmallow astronaut safely in its paper cup capsule after a drop from a two-story stairwell.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Event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Astronaut Lander  •  Slide 1 of 10  •  VA Division A 2025–2026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78992"/>
            <a:ext cx="1402080" cy="54864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team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2212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22120" y="1078992"/>
            <a:ext cx="1402080" cy="54864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13" name="Text 11"/>
          <p:cNvSpPr/>
          <p:nvPr/>
        </p:nvSpPr>
        <p:spPr>
          <a:xfrm>
            <a:off x="172212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2212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total session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1564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5640" y="1078992"/>
            <a:ext cx="1402080" cy="54864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17" name="Text 15"/>
          <p:cNvSpPr/>
          <p:nvPr/>
        </p:nvSpPr>
        <p:spPr>
          <a:xfrm>
            <a:off x="321564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1564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build + test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78992"/>
            <a:ext cx="1402080" cy="54864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0916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items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268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2680" y="1078992"/>
            <a:ext cx="1402080" cy="54864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25" name="Text 23"/>
          <p:cNvSpPr/>
          <p:nvPr/>
        </p:nvSpPr>
        <p:spPr>
          <a:xfrm>
            <a:off x="620268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0268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score pts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96200" y="1078992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96200" y="1078992"/>
            <a:ext cx="1402080" cy="54864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29" name="Text 27"/>
          <p:cNvSpPr/>
          <p:nvPr/>
        </p:nvSpPr>
        <p:spPr>
          <a:xfrm>
            <a:off x="7696200" y="1207008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1/100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696200" y="1682496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precision (s)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2212848"/>
            <a:ext cx="8686800" cy="658368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228600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landing device that keeps the marshmallow astronaut INSIDE the paper cup capsule after dropping from a two-story stairwell. Maximize flight time. Score = flight time + written assessment.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8600" y="2980944"/>
            <a:ext cx="4224528" cy="42062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0723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use the cup: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00200" y="30723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237ml paper cup is mandatory. Cannot be cut. This is the astronaut capsule.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81728" y="2980944"/>
            <a:ext cx="4224528" cy="42062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30723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restriction: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53328" y="30723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may be built within 10cm directly above the cup lip.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438144"/>
            <a:ext cx="4224528" cy="42062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5295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Marshmallow: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00200" y="35295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taped or wedged into the cup. Exits cup = Tier 2 (−20%).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81728" y="3438144"/>
            <a:ext cx="4224528" cy="42062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35295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53328" y="35295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25-minute build phase simultaneous with written test.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895344"/>
            <a:ext cx="4224528" cy="42062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39867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test: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600200" y="39867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forces on landing astronauts, effects of space on the human body.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81728" y="3895344"/>
            <a:ext cx="4224528" cy="42062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49" name="Text 47"/>
          <p:cNvSpPr/>
          <p:nvPr/>
        </p:nvSpPr>
        <p:spPr>
          <a:xfrm>
            <a:off x="4773168" y="39867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estimate: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53328" y="39867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estimated flight time to the supervisor during build phase.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8600" y="4352544"/>
            <a:ext cx="4224528" cy="42062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44439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600200" y="44439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parallel to railing, say "3, 2, 1, drop". Cannot move upward while releasing.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81728" y="4352544"/>
            <a:ext cx="4224528" cy="42062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55" name="Text 53"/>
          <p:cNvSpPr/>
          <p:nvPr/>
        </p:nvSpPr>
        <p:spPr>
          <a:xfrm>
            <a:off x="4773168" y="44439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53328" y="44439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Z87+ impact glasses required. Bring your own.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Official Materials Kit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7B5EA7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Astronaut Lander  •  Slide 2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4224528" cy="60350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78992"/>
            <a:ext cx="347472" cy="603504"/>
          </a:xfrm>
          <a:prstGeom prst="rect">
            <a:avLst/>
          </a:prstGeom>
          <a:solidFill>
            <a:srgbClr val="9B79C7">
              <a:alpha val="6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78992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112471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ml paper cup (THE CAPSULE)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" y="14081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— must be used, cannot be cut. The marshmallow goes inside.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9544" y="1170432"/>
            <a:ext cx="896112" cy="420624"/>
          </a:xfrm>
          <a:prstGeom prst="rect">
            <a:avLst/>
          </a:prstGeom>
          <a:solidFill>
            <a:srgbClr val="9B79C7">
              <a:alpha val="5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9544" y="1170432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078992"/>
            <a:ext cx="4224528" cy="60350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78992"/>
            <a:ext cx="347472" cy="603504"/>
          </a:xfrm>
          <a:prstGeom prst="rect">
            <a:avLst/>
          </a:prstGeom>
          <a:solidFill>
            <a:srgbClr val="F5C842">
              <a:alpha val="6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078992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9784" y="112471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marshmallow (~2.54cm dia × 3.8cm)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9784" y="14081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astronaut. Must stay in the cup. Cannot be taped or wedged in.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90104" y="1170432"/>
            <a:ext cx="896112" cy="420624"/>
          </a:xfrm>
          <a:prstGeom prst="rect">
            <a:avLst/>
          </a:prstGeom>
          <a:solidFill>
            <a:srgbClr val="F5C842">
              <a:alpha val="5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690104" y="1170432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1755648"/>
            <a:ext cx="4224528" cy="60350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1755648"/>
            <a:ext cx="347472" cy="603504"/>
          </a:xfrm>
          <a:prstGeom prst="rect">
            <a:avLst/>
          </a:prstGeom>
          <a:solidFill>
            <a:srgbClr val="F5C842">
              <a:alpha val="6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1755648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" y="180136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marshmallows (~0.6cm × 0.9cm)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" y="20848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cushioning material.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9544" y="1847088"/>
            <a:ext cx="896112" cy="420624"/>
          </a:xfrm>
          <a:prstGeom prst="rect">
            <a:avLst/>
          </a:prstGeom>
          <a:solidFill>
            <a:srgbClr val="F5C842">
              <a:alpha val="5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209544" y="1847088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1755648"/>
            <a:ext cx="4224528" cy="60350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755648"/>
            <a:ext cx="347472" cy="603504"/>
          </a:xfrm>
          <a:prstGeom prst="rect">
            <a:avLst/>
          </a:prstGeom>
          <a:solidFill>
            <a:srgbClr val="4FC3F7">
              <a:alpha val="6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1755648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29784" y="180136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filter #2 (smaller)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9784" y="20848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Parachute material. Cone shape traps air efficiently.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90104" y="1847088"/>
            <a:ext cx="896112" cy="420624"/>
          </a:xfrm>
          <a:prstGeom prst="rect">
            <a:avLst/>
          </a:prstGeom>
          <a:solidFill>
            <a:srgbClr val="4FC3F7">
              <a:alpha val="5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690104" y="1847088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2432304"/>
            <a:ext cx="4224528" cy="60350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2432304"/>
            <a:ext cx="347472" cy="603504"/>
          </a:xfrm>
          <a:prstGeom prst="rect">
            <a:avLst/>
          </a:prstGeom>
          <a:solidFill>
            <a:srgbClr val="4FC3F7">
              <a:alpha val="6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" y="2432304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☕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9224" y="2478024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filter #6 (larger)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" y="276148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parachute material — more drag = slower descent = longer time.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9544" y="2523744"/>
            <a:ext cx="896112" cy="420624"/>
          </a:xfrm>
          <a:prstGeom prst="rect">
            <a:avLst/>
          </a:prstGeom>
          <a:solidFill>
            <a:srgbClr val="4FC3F7">
              <a:alpha val="5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209544" y="2523744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2432304"/>
            <a:ext cx="4224528" cy="60350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2432304"/>
            <a:ext cx="347472" cy="603504"/>
          </a:xfrm>
          <a:prstGeom prst="rect">
            <a:avLst/>
          </a:prstGeom>
          <a:solidFill>
            <a:srgbClr val="E05C40">
              <a:alpha val="62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09160" y="2432304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129784" y="2478024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bands (#64, #33, #19 — may mix)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29784" y="276148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Suspension, attachment, or structural. Choose 3 from the assortment.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90104" y="2523744"/>
            <a:ext cx="896112" cy="420624"/>
          </a:xfrm>
          <a:prstGeom prst="rect">
            <a:avLst/>
          </a:prstGeom>
          <a:solidFill>
            <a:srgbClr val="E05C40">
              <a:alpha val="5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690104" y="2523744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bands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8600" y="3108960"/>
            <a:ext cx="4224528" cy="60350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28600" y="3108960"/>
            <a:ext cx="347472" cy="603504"/>
          </a:xfrm>
          <a:prstGeom prst="rect">
            <a:avLst/>
          </a:prstGeom>
          <a:solidFill>
            <a:srgbClr val="7BC67E">
              <a:alpha val="6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228600" y="3108960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🥤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9224" y="315468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straws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9224" y="34381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to hold cup stable. May be cut.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9544" y="3200400"/>
            <a:ext cx="896112" cy="420624"/>
          </a:xfrm>
          <a:prstGeom prst="rect">
            <a:avLst/>
          </a:prstGeom>
          <a:solidFill>
            <a:srgbClr val="7BC67E">
              <a:alpha val="5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3209544" y="3200400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straws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09160" y="3108960"/>
            <a:ext cx="4224528" cy="60350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709160" y="3108960"/>
            <a:ext cx="347472" cy="603504"/>
          </a:xfrm>
          <a:prstGeom prst="rect">
            <a:avLst/>
          </a:prstGeom>
          <a:solidFill>
            <a:srgbClr val="7BC67E">
              <a:alpha val="62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09160" y="3108960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🃏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129784" y="315468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cards (8×13 cm)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129784" y="34381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fins, additional panels. May be cut.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690104" y="3200400"/>
            <a:ext cx="896112" cy="420624"/>
          </a:xfrm>
          <a:prstGeom prst="rect">
            <a:avLst/>
          </a:prstGeom>
          <a:solidFill>
            <a:srgbClr val="7BC67E">
              <a:alpha val="5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7690104" y="3200400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cards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28600" y="3785616"/>
            <a:ext cx="4224528" cy="60350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28600" y="3785616"/>
            <a:ext cx="347472" cy="603504"/>
          </a:xfrm>
          <a:prstGeom prst="rect">
            <a:avLst/>
          </a:prstGeom>
          <a:solidFill>
            <a:srgbClr val="9B79C7">
              <a:alpha val="62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228600" y="3785616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🟫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49224" y="383133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 piece (~10×13 cm)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49224" y="411480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base or reinforcement.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09544" y="3877056"/>
            <a:ext cx="896112" cy="420624"/>
          </a:xfrm>
          <a:prstGeom prst="rect">
            <a:avLst/>
          </a:prstGeom>
          <a:solidFill>
            <a:srgbClr val="9B79C7">
              <a:alpha val="5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3209544" y="3877056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piece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709160" y="3785616"/>
            <a:ext cx="4224528" cy="60350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709160" y="3785616"/>
            <a:ext cx="347472" cy="603504"/>
          </a:xfrm>
          <a:prstGeom prst="rect">
            <a:avLst/>
          </a:prstGeom>
          <a:solidFill>
            <a:srgbClr val="9B79C7">
              <a:alpha val="62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709160" y="3785616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🧵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5129784" y="383133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129784" y="411480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Parachute shroud lines, structural ties.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690104" y="3877056"/>
            <a:ext cx="896112" cy="420624"/>
          </a:xfrm>
          <a:prstGeom prst="rect">
            <a:avLst/>
          </a:prstGeom>
          <a:solidFill>
            <a:srgbClr val="9B79C7">
              <a:alpha val="58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7690104" y="3877056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meter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28600" y="4462272"/>
            <a:ext cx="4224528" cy="60350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228600" y="4462272"/>
            <a:ext cx="347472" cy="603504"/>
          </a:xfrm>
          <a:prstGeom prst="rect">
            <a:avLst/>
          </a:prstGeom>
          <a:solidFill>
            <a:srgbClr val="9B79C7">
              <a:alpha val="62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228600" y="4462272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🩹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49224" y="450799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tape (2.54 cm)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49224" y="479145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structural connections.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209544" y="4553712"/>
            <a:ext cx="896112" cy="420624"/>
          </a:xfrm>
          <a:prstGeom prst="rect">
            <a:avLst/>
          </a:prstGeom>
          <a:solidFill>
            <a:srgbClr val="9B79C7">
              <a:alpha val="58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3209544" y="4553712"/>
            <a:ext cx="896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meter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BRING: ANSI Z87+ impact safety glasses  •  Writing utensils  •  Scissors provided at event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🏅  Official Scoring Formula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7B5EA7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Astronaut Lander  •  Slide 3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694944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1155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Score (FS) = Assessment Score (TAS) + Time Score (TTS)  •  Maximum = 100 points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865376"/>
            <a:ext cx="1920240" cy="347472"/>
          </a:xfrm>
          <a:prstGeom prst="rect">
            <a:avLst/>
          </a:prstGeom>
          <a:solidFill>
            <a:srgbClr val="7B5EA7">
              <a:alpha val="7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90195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48840" y="1865376"/>
            <a:ext cx="4846320" cy="347472"/>
          </a:xfrm>
          <a:prstGeom prst="rect">
            <a:avLst/>
          </a:prstGeom>
          <a:solidFill>
            <a:srgbClr val="7B5EA7">
              <a:alpha val="7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221992" y="190195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 / Rule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95160" y="1865376"/>
            <a:ext cx="1920240" cy="347472"/>
          </a:xfrm>
          <a:prstGeom prst="rect">
            <a:avLst/>
          </a:prstGeom>
          <a:solidFill>
            <a:srgbClr val="7B5EA7">
              <a:alpha val="7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68312" y="190195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267712"/>
            <a:ext cx="192024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32257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Score (TAS)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2267712"/>
            <a:ext cx="484632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20" name="Text 18"/>
          <p:cNvSpPr/>
          <p:nvPr/>
        </p:nvSpPr>
        <p:spPr>
          <a:xfrm>
            <a:off x="2221992" y="2322576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score ÷ Best assessment score among all teams) × 50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2267712"/>
            <a:ext cx="192024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22" name="Text 20"/>
          <p:cNvSpPr/>
          <p:nvPr/>
        </p:nvSpPr>
        <p:spPr>
          <a:xfrm>
            <a:off x="7068312" y="232257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50 pts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615184"/>
            <a:ext cx="192024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267004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Score (TTS)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48840" y="2615184"/>
            <a:ext cx="484632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26" name="Text 24"/>
          <p:cNvSpPr/>
          <p:nvPr/>
        </p:nvSpPr>
        <p:spPr>
          <a:xfrm>
            <a:off x="2221992" y="2670048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flight time ÷ Longest flight time among all teams) × 50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95160" y="2615184"/>
            <a:ext cx="192024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28" name="Text 26"/>
          <p:cNvSpPr/>
          <p:nvPr/>
        </p:nvSpPr>
        <p:spPr>
          <a:xfrm>
            <a:off x="7068312" y="267004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50 pts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962656"/>
            <a:ext cx="192024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" y="30175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Time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48840" y="2962656"/>
            <a:ext cx="484632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32" name="Text 30"/>
          <p:cNvSpPr/>
          <p:nvPr/>
        </p:nvSpPr>
        <p:spPr>
          <a:xfrm>
            <a:off x="2221992" y="3017520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release until lander gets stuck or comes to complete stop. Bouncing continues the clock.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95160" y="2962656"/>
            <a:ext cx="192024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34" name="Text 32"/>
          <p:cNvSpPr/>
          <p:nvPr/>
        </p:nvSpPr>
        <p:spPr>
          <a:xfrm>
            <a:off x="7068312" y="30175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to 1/100 sec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3310128"/>
            <a:ext cx="192024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" y="336499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(full score)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48840" y="3310128"/>
            <a:ext cx="484632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38" name="Text 36"/>
          <p:cNvSpPr/>
          <p:nvPr/>
        </p:nvSpPr>
        <p:spPr>
          <a:xfrm>
            <a:off x="2221992" y="3364992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Lander meets all requirements + marshmallow stays in cup + Spirit of Problem followed.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95160" y="3310128"/>
            <a:ext cx="192024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40" name="Text 38"/>
          <p:cNvSpPr/>
          <p:nvPr/>
        </p:nvSpPr>
        <p:spPr>
          <a:xfrm>
            <a:off x="7068312" y="336499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penalty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3657600"/>
            <a:ext cx="192024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42" name="Text 40"/>
          <p:cNvSpPr/>
          <p:nvPr/>
        </p:nvSpPr>
        <p:spPr>
          <a:xfrm>
            <a:off x="301752" y="371246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(−20%)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48840" y="3657600"/>
            <a:ext cx="484632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44" name="Text 42"/>
          <p:cNvSpPr/>
          <p:nvPr/>
        </p:nvSpPr>
        <p:spPr>
          <a:xfrm>
            <a:off x="2221992" y="371246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fault OR marshmallow exits the cup on landing.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95160" y="3657600"/>
            <a:ext cx="192024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46" name="Text 44"/>
          <p:cNvSpPr/>
          <p:nvPr/>
        </p:nvSpPr>
        <p:spPr>
          <a:xfrm>
            <a:off x="7068312" y="371246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×0.80 final score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4005072"/>
            <a:ext cx="192024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48" name="Text 46"/>
          <p:cNvSpPr/>
          <p:nvPr/>
        </p:nvSpPr>
        <p:spPr>
          <a:xfrm>
            <a:off x="301752" y="405993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(−30%)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48840" y="4005072"/>
            <a:ext cx="484632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50" name="Text 48"/>
          <p:cNvSpPr/>
          <p:nvPr/>
        </p:nvSpPr>
        <p:spPr>
          <a:xfrm>
            <a:off x="2221992" y="4059936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did not follow Spirit of the Problem guidelines.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95160" y="4005072"/>
            <a:ext cx="192024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52" name="Text 50"/>
          <p:cNvSpPr/>
          <p:nvPr/>
        </p:nvSpPr>
        <p:spPr>
          <a:xfrm>
            <a:off x="7068312" y="405993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×0.70 final score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352544"/>
            <a:ext cx="192024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54" name="Text 52"/>
          <p:cNvSpPr/>
          <p:nvPr/>
        </p:nvSpPr>
        <p:spPr>
          <a:xfrm>
            <a:off x="301752" y="440740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 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148840" y="4352544"/>
            <a:ext cx="484632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56" name="Text 54"/>
          <p:cNvSpPr/>
          <p:nvPr/>
        </p:nvSpPr>
        <p:spPr>
          <a:xfrm>
            <a:off x="2221992" y="4407408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difference between estimated and actual flight time.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95160" y="4352544"/>
            <a:ext cx="1920240" cy="329184"/>
          </a:xfrm>
          <a:prstGeom prst="rect">
            <a:avLst/>
          </a:prstGeom>
          <a:solidFill>
            <a:srgbClr val="0D0D28"/>
          </a:solidFill>
          <a:ln/>
        </p:spPr>
      </p:sp>
      <p:sp>
        <p:nvSpPr>
          <p:cNvPr id="58" name="Text 56"/>
          <p:cNvSpPr/>
          <p:nvPr/>
        </p:nvSpPr>
        <p:spPr>
          <a:xfrm>
            <a:off x="7068312" y="440740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accurately!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28600" y="4700016"/>
            <a:ext cx="192024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60" name="Text 58"/>
          <p:cNvSpPr/>
          <p:nvPr/>
        </p:nvSpPr>
        <p:spPr>
          <a:xfrm>
            <a:off x="301752" y="475488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 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148840" y="4700016"/>
            <a:ext cx="484632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62" name="Text 60"/>
          <p:cNvSpPr/>
          <p:nvPr/>
        </p:nvSpPr>
        <p:spPr>
          <a:xfrm>
            <a:off x="2221992" y="4754880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on selected written assessment questions.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995160" y="4700016"/>
            <a:ext cx="1920240" cy="329184"/>
          </a:xfrm>
          <a:prstGeom prst="rect">
            <a:avLst/>
          </a:prstGeom>
          <a:solidFill>
            <a:srgbClr val="0A0A20"/>
          </a:solidFill>
          <a:ln/>
        </p:spPr>
      </p:sp>
      <p:sp>
        <p:nvSpPr>
          <p:cNvPr id="64" name="Text 62"/>
          <p:cNvSpPr/>
          <p:nvPr/>
        </p:nvSpPr>
        <p:spPr>
          <a:xfrm>
            <a:off x="7068312" y="475488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content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28600" y="5065776"/>
            <a:ext cx="8686800" cy="256032"/>
          </a:xfrm>
          <a:prstGeom prst="rect">
            <a:avLst/>
          </a:prstGeom>
          <a:solidFill>
            <a:srgbClr val="08082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47472" y="510235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Example: CAS=15, team scores 9 → TAS=(9÷15)×50=30 pts. CFS=3.56 sec, team time=1.45 → TTS=(1.45÷3.56)×50=20.4 pts. Final Score=50.4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Design Strategy — Maximize Flight Time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7B5EA7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Astronaut Lander  •  Slide 4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2743200" cy="373075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78992"/>
            <a:ext cx="2743200" cy="329184"/>
          </a:xfrm>
          <a:prstGeom prst="rect">
            <a:avLst/>
          </a:prstGeom>
          <a:solidFill>
            <a:srgbClr val="9B79C7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15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PARACHUTE (coffee filter)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4813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#6 filter = larger area = more drag = slower fall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95681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Cone shape traps air — don't flatten it out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43230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Attach 4+ equally-spaced string lines to edge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9077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Lines must be equal length — tilted chute = less drag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383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Cup must hang UPRIGHT throughout descent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8587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Test: hold by parachute — does cup hang level?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27248" y="1078992"/>
            <a:ext cx="2743200" cy="373075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27248" y="1078992"/>
            <a:ext cx="2743200" cy="329184"/>
          </a:xfrm>
          <a:prstGeom prst="rect">
            <a:avLst/>
          </a:prstGeom>
          <a:solidFill>
            <a:srgbClr val="4FC3F7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18688" y="1115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cm RULE + CUP DESIGN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18688" y="14813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NOTHING built within 10cm above the cup lip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18688" y="195681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Attach parachute strings to cup SIDES, not top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18688" y="243230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Marshmallow must sit freely — no tape, no wedging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18688" y="29077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Test: shake gently — does marshmallow stay in?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18688" y="3383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Use rubber bands to suspend cup below a frame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18688" y="38587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Cup opening must face UP throughout the entire fall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16752" y="1078992"/>
            <a:ext cx="2898648" cy="373075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16752" y="1078992"/>
            <a:ext cx="2898648" cy="329184"/>
          </a:xfrm>
          <a:prstGeom prst="rect">
            <a:avLst/>
          </a:prstGeom>
          <a:solidFill>
            <a:srgbClr val="F5C842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108192" y="1115568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WRITTEN TEST TOPICS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08192" y="1481328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Gravity: F = mg (9.8 m/s² on Earth)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08192" y="1956816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Air resistance (drag): opposes motion, grows with speed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08192" y="2432304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Impact force: reduced by longer deceleration time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08192" y="2907792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g-force: up to 3g on re-entry for astronauts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08192" y="3383280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Bone density loss: ~1–2% per month in space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08192" y="3858768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Muscle atrophy: affects legs most in microgravity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08192" y="4334256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Fluid shift: more blood to head in zero gravity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08192" y="4809744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Recovery: weeks to months after long mission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Competition Tips — How to Win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7B5EA7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Astronaut Lander  •  Slide 5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2743200" cy="1755648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78992"/>
            <a:ext cx="2743200" cy="36576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" y="15910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the #6 coffee filter first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975104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#6 is larger than the #2 — more surface area = more drag = slower descent = more flight time. This is your primary parachute.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27248" y="1078992"/>
            <a:ext cx="2743200" cy="1755648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27248" y="1078992"/>
            <a:ext cx="27432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3127248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18688" y="15910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10cm rule is critical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18688" y="1975104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built within 10cm directly above the cup lip. Parachute strings must attach to the cup SIDES or to a frame structure — not crossing over the opening.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25896" y="1078992"/>
            <a:ext cx="2743200" cy="1755648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078992"/>
            <a:ext cx="274320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1" name="Text 19"/>
          <p:cNvSpPr/>
          <p:nvPr/>
        </p:nvSpPr>
        <p:spPr>
          <a:xfrm>
            <a:off x="6025896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17336" y="15910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the cup upright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17336" y="1975104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cup opening must face up throughout descent or the marshmallow will fall out before landing. Test this by holding your lander by the parachute and checking the cup angle.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980944"/>
            <a:ext cx="2743200" cy="1755648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980944"/>
            <a:ext cx="2743200" cy="36576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30723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0040" y="34930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light to stay up longer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3877056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gram increases fall speed. Use minimum materials. The coffee filters are already very lightweight — don't add unnecessary weight with the cardboard or straws.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27248" y="2980944"/>
            <a:ext cx="2743200" cy="1755648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27248" y="2980944"/>
            <a:ext cx="2743200" cy="36576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31" name="Text 29"/>
          <p:cNvSpPr/>
          <p:nvPr/>
        </p:nvSpPr>
        <p:spPr>
          <a:xfrm>
            <a:off x="3127248" y="30723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218688" y="34930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your test drop accurately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18688" y="3877056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 1 is the closest estimate to actual flight time. Use a phone stopwatch during practice. Give a specific number (e.g., "2.4 seconds") not a round guess.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25896" y="2980944"/>
            <a:ext cx="2743200" cy="1755648"/>
          </a:xfrm>
          <a:prstGeom prst="rect">
            <a:avLst/>
          </a:prstGeom>
          <a:solidFill>
            <a:srgbClr val="0D0D28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25896" y="2980944"/>
            <a:ext cx="2743200" cy="36576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36" name="Text 34"/>
          <p:cNvSpPr/>
          <p:nvPr/>
        </p:nvSpPr>
        <p:spPr>
          <a:xfrm>
            <a:off x="6025896" y="30723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117336" y="34930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both test topics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17336" y="3877056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= 50 pts. Gravity, air resistance, impact force, g-force, and what happens to bones, muscles, and heart in space. Review before competition day.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Astronaut Lander — Project Slides</dc:title>
  <dc:subject>PptxGenJS Presentation</dc:subject>
  <dc:creator>PptxGenJS</dc:creator>
  <cp:lastModifiedBy>PptxGenJS</cp:lastModifiedBy>
  <cp:revision>1</cp:revision>
  <dcterms:created xsi:type="dcterms:W3CDTF">2026-03-14T19:33:53Z</dcterms:created>
  <dcterms:modified xsi:type="dcterms:W3CDTF">2026-03-14T19:33:53Z</dcterms:modified>
</cp:coreProperties>
</file>