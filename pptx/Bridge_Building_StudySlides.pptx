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680960" y="-365760"/>
            <a:ext cx="1645920" cy="1645920"/>
          </a:xfrm>
          <a:prstGeom prst="rect">
            <a:avLst/>
          </a:prstGeom>
          <a:solidFill>
            <a:srgbClr val="00B4FF">
              <a:alpha val="40000"/>
            </a:srgbClr>
          </a:solidFill>
          <a:ln w="12700">
            <a:solidFill>
              <a:srgbClr val="00B4FF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-548640" y="3657600"/>
            <a:ext cx="1828800" cy="1828800"/>
          </a:xfrm>
          <a:prstGeom prst="rect">
            <a:avLst/>
          </a:prstGeom>
          <a:solidFill>
            <a:srgbClr val="00B4FF">
              <a:alpha val="38000"/>
            </a:srgbClr>
          </a:solidFill>
          <a:ln w="12700">
            <a:solidFill>
              <a:srgbClr val="00B4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200400" y="1005840"/>
            <a:ext cx="2743200" cy="2743200"/>
          </a:xfrm>
          <a:prstGeom prst="rect">
            <a:avLst/>
          </a:prstGeom>
          <a:solidFill>
            <a:srgbClr val="00B4FF">
              <a:alpha val="20000"/>
            </a:srgbClr>
          </a:solidFill>
          <a:ln w="12700">
            <a:solidFill>
              <a:srgbClr val="00B4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6629400" y="3063240"/>
            <a:ext cx="1005840" cy="1005840"/>
          </a:xfrm>
          <a:prstGeom prst="rect">
            <a:avLst/>
          </a:prstGeom>
          <a:solidFill>
            <a:srgbClr val="00B4FF">
              <a:alpha val="42000"/>
            </a:srgbClr>
          </a:solidFill>
          <a:ln w="12700">
            <a:solidFill>
              <a:srgbClr val="00B4FF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00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 DIVISION A  •  2025–2026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Building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Study Guide  •  2025–2026 Season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6032" y="3310128"/>
            <a:ext cx="2779776" cy="402336"/>
          </a:xfrm>
          <a:prstGeom prst="rect">
            <a:avLst/>
          </a:prstGeom>
          <a:solidFill>
            <a:srgbClr val="0C1326">
              <a:alpha val="90000"/>
            </a:srgbClr>
          </a:solidFill>
          <a:ln w="12700">
            <a:solidFill>
              <a:srgbClr val="00B4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3310128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63824" y="3310128"/>
            <a:ext cx="2779776" cy="402336"/>
          </a:xfrm>
          <a:prstGeom prst="rect">
            <a:avLst/>
          </a:prstGeom>
          <a:solidFill>
            <a:srgbClr val="0C1326">
              <a:alpha val="90000"/>
            </a:srgbClr>
          </a:solidFill>
          <a:ln w="12700">
            <a:solidFill>
              <a:srgbClr val="00B4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3310128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3310128"/>
            <a:ext cx="2779776" cy="402336"/>
          </a:xfrm>
          <a:prstGeom prst="rect">
            <a:avLst/>
          </a:prstGeom>
          <a:solidFill>
            <a:srgbClr val="0C1326">
              <a:alpha val="90000"/>
            </a:srgbClr>
          </a:solidFill>
          <a:ln w="12700">
            <a:solidFill>
              <a:srgbClr val="00B4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3310128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Truss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3785616"/>
            <a:ext cx="2779776" cy="402336"/>
          </a:xfrm>
          <a:prstGeom prst="rect">
            <a:avLst/>
          </a:prstGeom>
          <a:solidFill>
            <a:srgbClr val="050810">
              <a:alpha val="90000"/>
            </a:srgbClr>
          </a:solidFill>
          <a:ln w="12700">
            <a:solidFill>
              <a:srgbClr val="00B4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785616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vs Compression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63824" y="3785616"/>
            <a:ext cx="2779776" cy="402336"/>
          </a:xfrm>
          <a:prstGeom prst="rect">
            <a:avLst/>
          </a:prstGeom>
          <a:solidFill>
            <a:srgbClr val="050810">
              <a:alpha val="90000"/>
            </a:srgbClr>
          </a:solidFill>
          <a:ln w="12700">
            <a:solidFill>
              <a:srgbClr val="00B4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3824" y="3785616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Strategy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71616" y="3785616"/>
            <a:ext cx="2779776" cy="402336"/>
          </a:xfrm>
          <a:prstGeom prst="rect">
            <a:avLst/>
          </a:prstGeom>
          <a:solidFill>
            <a:srgbClr val="050810">
              <a:alpha val="90000"/>
            </a:srgbClr>
          </a:solidFill>
          <a:ln w="12700">
            <a:solidFill>
              <a:srgbClr val="00B4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3785616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Tips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00B4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Event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00B4FF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BUILDING  •  VA Division A  •  1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58368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TALLEST truss bridge from straws and tape to span a 30 cm gap — hold a 300g or 500g mass for 30 seconds. Score = Height + Assessment. Max = 100 points.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810512"/>
            <a:ext cx="8686800" cy="42062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901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1901952"/>
            <a:ext cx="7260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paper straws (~20 cm each), 1 meter of 2.54 cm masking tape. Nothing else.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67712"/>
            <a:ext cx="8686800" cy="42062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359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2359152"/>
            <a:ext cx="7260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must span exactly 30.0 cm between the two provided support structures.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724912"/>
            <a:ext cx="8686800" cy="42062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163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Width: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2816352"/>
            <a:ext cx="7260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must be at least 10.0 cm wide at center (outside edge to outside edge).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182112"/>
            <a:ext cx="8686800" cy="42062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273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Block: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72768" y="3273552"/>
            <a:ext cx="7260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5×5×0.6 cm block (20g) placed on the top chord at center before the test mass.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39312"/>
            <a:ext cx="8686800" cy="42062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730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72768" y="3730752"/>
            <a:ext cx="7260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300g for 30s for base score. Hold 500g for 30s for 1.2× height bonus.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4096512"/>
            <a:ext cx="8686800" cy="42062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187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72768" y="4187952"/>
            <a:ext cx="7260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cross-members that would block the 5×5 cm block from passing through.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4553712"/>
            <a:ext cx="8686800" cy="42062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645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72768" y="4645152"/>
            <a:ext cx="7260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Z87+ impact-rated glasses required. Bring your own — not provided at event.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5010912"/>
            <a:ext cx="8686800" cy="42062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51023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Test: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572768" y="5102352"/>
            <a:ext cx="7260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written assessment on bridge types and forces during the 25-minute build.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00B4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🏅  Official Scoring Formula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00B4FF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BUILDING  •  VA Division A  •  2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58368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Score = 0.5 × (THS ÷ CHS) + 0.5 × (TAS ÷ CAS) × multipliers  •  Maximum = 1.0 (normalized)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2194560" cy="329184"/>
          </a:xfrm>
          <a:prstGeom prst="rect">
            <a:avLst/>
          </a:prstGeom>
          <a:solidFill>
            <a:srgbClr val="00B4FF">
              <a:alpha val="7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86537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3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1828800"/>
            <a:ext cx="4663440" cy="329184"/>
          </a:xfrm>
          <a:prstGeom prst="rect">
            <a:avLst/>
          </a:prstGeom>
          <a:solidFill>
            <a:srgbClr val="00B4FF">
              <a:alpha val="7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86537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3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828800"/>
            <a:ext cx="1828800" cy="329184"/>
          </a:xfrm>
          <a:prstGeom prst="rect">
            <a:avLst/>
          </a:prstGeom>
          <a:solidFill>
            <a:srgbClr val="00B4FF">
              <a:alpha val="7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59752" y="186537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3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Source/Impact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212848"/>
            <a:ext cx="219456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258568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 — Team Height 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212848"/>
            <a:ext cx="466344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20" name="Text 18"/>
          <p:cNvSpPr/>
          <p:nvPr/>
        </p:nvSpPr>
        <p:spPr>
          <a:xfrm>
            <a:off x="2496312" y="2258568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bridge's measured center height in mm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2212848"/>
            <a:ext cx="182880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22" name="Text 20"/>
          <p:cNvSpPr/>
          <p:nvPr/>
        </p:nvSpPr>
        <p:spPr>
          <a:xfrm>
            <a:off x="7159752" y="225856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measurement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523744"/>
            <a:ext cx="219456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25694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 — Competition Height Score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523744"/>
            <a:ext cx="466344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26" name="Text 24"/>
          <p:cNvSpPr/>
          <p:nvPr/>
        </p:nvSpPr>
        <p:spPr>
          <a:xfrm>
            <a:off x="2496312" y="256946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bridge among all competing teams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2523744"/>
            <a:ext cx="182880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28" name="Text 26"/>
          <p:cNvSpPr/>
          <p:nvPr/>
        </p:nvSpPr>
        <p:spPr>
          <a:xfrm>
            <a:off x="7159752" y="25694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834640"/>
            <a:ext cx="219456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" y="288036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— Team Assessment Score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23160" y="2834640"/>
            <a:ext cx="466344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2" name="Text 30"/>
          <p:cNvSpPr/>
          <p:nvPr/>
        </p:nvSpPr>
        <p:spPr>
          <a:xfrm>
            <a:off x="2496312" y="2880360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written test score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86600" y="2834640"/>
            <a:ext cx="182880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4" name="Text 32"/>
          <p:cNvSpPr/>
          <p:nvPr/>
        </p:nvSpPr>
        <p:spPr>
          <a:xfrm>
            <a:off x="7159752" y="288036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assessment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145536"/>
            <a:ext cx="219456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" y="319125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— Competition Assessment Score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23160" y="3145536"/>
            <a:ext cx="466344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38" name="Text 36"/>
          <p:cNvSpPr/>
          <p:nvPr/>
        </p:nvSpPr>
        <p:spPr>
          <a:xfrm>
            <a:off x="2496312" y="3191256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assessment score among all teams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86600" y="3145536"/>
            <a:ext cx="182880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40" name="Text 38"/>
          <p:cNvSpPr/>
          <p:nvPr/>
        </p:nvSpPr>
        <p:spPr>
          <a:xfrm>
            <a:off x="7159752" y="319125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TAS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3456432"/>
            <a:ext cx="219456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42" name="Text 40"/>
          <p:cNvSpPr/>
          <p:nvPr/>
        </p:nvSpPr>
        <p:spPr>
          <a:xfrm>
            <a:off x="301752" y="350215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×1.2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23160" y="3456432"/>
            <a:ext cx="466344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44" name="Text 42"/>
          <p:cNvSpPr/>
          <p:nvPr/>
        </p:nvSpPr>
        <p:spPr>
          <a:xfrm>
            <a:off x="2496312" y="3502152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500g mass held for 30s → height score × 1.2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86600" y="3456432"/>
            <a:ext cx="182880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46" name="Text 44"/>
          <p:cNvSpPr/>
          <p:nvPr/>
        </p:nvSpPr>
        <p:spPr>
          <a:xfrm>
            <a:off x="7159752" y="350215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outcome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3767328"/>
            <a:ext cx="219456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48" name="Text 46"/>
          <p:cNvSpPr/>
          <p:nvPr/>
        </p:nvSpPr>
        <p:spPr>
          <a:xfrm>
            <a:off x="301752" y="3813048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×0.5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23160" y="3767328"/>
            <a:ext cx="466344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50" name="Text 48"/>
          <p:cNvSpPr/>
          <p:nvPr/>
        </p:nvSpPr>
        <p:spPr>
          <a:xfrm>
            <a:off x="2496312" y="3813048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&lt; 10 cm OR loading block can't pass through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86600" y="3767328"/>
            <a:ext cx="182880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52" name="Text 50"/>
          <p:cNvSpPr/>
          <p:nvPr/>
        </p:nvSpPr>
        <p:spPr>
          <a:xfrm>
            <a:off x="7159752" y="38130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fault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078224"/>
            <a:ext cx="219456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54" name="Text 52"/>
          <p:cNvSpPr/>
          <p:nvPr/>
        </p:nvSpPr>
        <p:spPr>
          <a:xfrm>
            <a:off x="301752" y="412394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423160" y="4078224"/>
            <a:ext cx="466344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56" name="Text 54"/>
          <p:cNvSpPr/>
          <p:nvPr/>
        </p:nvSpPr>
        <p:spPr>
          <a:xfrm>
            <a:off x="2496312" y="412394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fails to span the 30 cm gap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86600" y="4078224"/>
            <a:ext cx="182880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58" name="Text 56"/>
          <p:cNvSpPr/>
          <p:nvPr/>
        </p:nvSpPr>
        <p:spPr>
          <a:xfrm>
            <a:off x="7159752" y="412394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score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28600" y="4389120"/>
            <a:ext cx="219456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60" name="Text 58"/>
          <p:cNvSpPr/>
          <p:nvPr/>
        </p:nvSpPr>
        <p:spPr>
          <a:xfrm>
            <a:off x="301752" y="443484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423160" y="4389120"/>
            <a:ext cx="466344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62" name="Text 60"/>
          <p:cNvSpPr/>
          <p:nvPr/>
        </p:nvSpPr>
        <p:spPr>
          <a:xfrm>
            <a:off x="2496312" y="4434840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unused complete straws remaining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086600" y="4389120"/>
            <a:ext cx="1828800" cy="292608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64" name="Text 62"/>
          <p:cNvSpPr/>
          <p:nvPr/>
        </p:nvSpPr>
        <p:spPr>
          <a:xfrm>
            <a:off x="7159752" y="44348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material!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8600" y="4700016"/>
            <a:ext cx="219456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66" name="Text 64"/>
          <p:cNvSpPr/>
          <p:nvPr/>
        </p:nvSpPr>
        <p:spPr>
          <a:xfrm>
            <a:off x="301752" y="474573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2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423160" y="4700016"/>
            <a:ext cx="466344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68" name="Text 66"/>
          <p:cNvSpPr/>
          <p:nvPr/>
        </p:nvSpPr>
        <p:spPr>
          <a:xfrm>
            <a:off x="2496312" y="4745736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failure in 500g test (longer = better)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086600" y="4700016"/>
            <a:ext cx="1828800" cy="292608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70" name="Text 68"/>
          <p:cNvSpPr/>
          <p:nvPr/>
        </p:nvSpPr>
        <p:spPr>
          <a:xfrm>
            <a:off x="7159752" y="474573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28600" y="4992624"/>
            <a:ext cx="8686800" cy="182880"/>
          </a:xfrm>
          <a:prstGeom prst="rect">
            <a:avLst/>
          </a:prstGeom>
          <a:solidFill>
            <a:srgbClr val="050810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47472" y="501091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Your height 320mm, best=400mm → THS/CHS=0.80. Your test 8/10, best=10 → TAS/CAS=0.80. Score = 0.5×0.80 + 0.5×0.80 = 0.80. With 500g bonus: 0.40 + 0.5×0.80 = 0.84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00B4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🔩  Truss Bridge Components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00B4FF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BUILDING  •  VA Division A  •  3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40080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9728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truss bridge carries loads through a framework of triangles. Every component has a specific role — and knowing whether each member carries tension or compression is tested on the written assessment.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4224528" cy="1133856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828800"/>
            <a:ext cx="54864" cy="1133856"/>
          </a:xfrm>
          <a:prstGeom prst="rect">
            <a:avLst/>
          </a:prstGeom>
          <a:solidFill>
            <a:srgbClr val="00B4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" y="187452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CHORD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" y="213969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horizontal member running the bridge's full length.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" y="23774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Force: Usually in COMPRESSION under a center load.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4904" y="26151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Most likely to buckle — bundle straws or slide one inside another for strength.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1828800"/>
            <a:ext cx="4224528" cy="1133856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1828800"/>
            <a:ext cx="54864" cy="1133856"/>
          </a:xfrm>
          <a:prstGeom prst="rect">
            <a:avLst/>
          </a:prstGeom>
          <a:solidFill>
            <a:srgbClr val="00E0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187452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BOTTOM CHORD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213969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horizontal member at deck level.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8032" y="23774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Force: Usually in TENSION — being pulled apart.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28032" y="26151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Tape joints well — tension failures happen at connections, not mid-member.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090672"/>
            <a:ext cx="4224528" cy="1133856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090672"/>
            <a:ext cx="54864" cy="1133856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" y="313639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" y="340156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perpendicular to the chords.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904" y="36393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Force: Compression (Howe/Warren) or Tension (Pratt) depending on truss type.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4904" y="387705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 Pratt truss: verticals carry compression. In Howe: verticals carry tension.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81728" y="3090672"/>
            <a:ext cx="4224528" cy="1133856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3090672"/>
            <a:ext cx="54864" cy="113385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313639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DIAGONALS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340156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Angled members connecting top and bottom chords.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28032" y="36393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Force: Pratt = tension. Howe = compression. Warren = alternates.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28032" y="387705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Direction of diagonals defines the truss type — memorize the difference for the test!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4352544"/>
            <a:ext cx="4224528" cy="1133856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4352544"/>
            <a:ext cx="54864" cy="1133856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37" name="Text 35"/>
          <p:cNvSpPr/>
          <p:nvPr/>
        </p:nvSpPr>
        <p:spPr>
          <a:xfrm>
            <a:off x="374904" y="43982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JOINTS / NODES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" y="46634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points where members meet.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4904" y="490118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Force: Forces assumed to act only at joints in ideal truss analysis.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74904" y="513892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Most real failures happen at joints. Tape each joint from multiple directions.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81728" y="4352544"/>
            <a:ext cx="4224528" cy="1133856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81728" y="4352544"/>
            <a:ext cx="54864" cy="1133856"/>
          </a:xfrm>
          <a:prstGeom prst="rect">
            <a:avLst/>
          </a:prstGeom>
          <a:solidFill>
            <a:srgbClr val="AABBCC"/>
          </a:solidFill>
          <a:ln/>
        </p:spPr>
      </p:sp>
      <p:sp>
        <p:nvSpPr>
          <p:cNvPr id="43" name="Text 41"/>
          <p:cNvSpPr/>
          <p:nvPr/>
        </p:nvSpPr>
        <p:spPr>
          <a:xfrm>
            <a:off x="4828032" y="43982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BLOCK AREA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28032" y="46634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cm block sits on top chord at center.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28032" y="490118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Force: Concentrated load applies maximum bending moment at bridge center.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28032" y="513892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Reinforce the top chord near center — this is where failure usually begins.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00B4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🌉  Types of Truss Bridges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00B4FF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Truss Types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BUILDING  •  VA Division A  •  4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24128"/>
            <a:ext cx="2743200" cy="181051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24128"/>
            <a:ext cx="2743200" cy="36576"/>
          </a:xfrm>
          <a:prstGeom prst="rect">
            <a:avLst/>
          </a:prstGeom>
          <a:solidFill>
            <a:srgbClr val="00B4F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155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PRATT TRUSS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38988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Diagonals → tension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60934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 → compression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184708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design. Diagonals slope TOWARD the center.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32257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Diagonal direction: lean inward, toward center.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27248" y="1024128"/>
            <a:ext cx="2743200" cy="181051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27248" y="1024128"/>
            <a:ext cx="2743200" cy="36576"/>
          </a:xfrm>
          <a:prstGeom prst="rect">
            <a:avLst/>
          </a:prstGeom>
          <a:solidFill>
            <a:srgbClr val="00E096"/>
          </a:solidFill>
          <a:ln/>
        </p:spPr>
      </p:sp>
      <p:sp>
        <p:nvSpPr>
          <p:cNvPr id="18" name="Text 16"/>
          <p:cNvSpPr/>
          <p:nvPr/>
        </p:nvSpPr>
        <p:spPr>
          <a:xfrm>
            <a:off x="3218688" y="11155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HOWE TRUSS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18688" y="138988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Diagonals → compression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18688" y="160934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 → tension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18688" y="184708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of Pratt. Diagonals slope AWAY from the center.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18688" y="232257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Diagonal direction: lean outward, away from center.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25896" y="1024128"/>
            <a:ext cx="2743200" cy="181051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1024128"/>
            <a:ext cx="2743200" cy="36576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5" name="Text 23"/>
          <p:cNvSpPr/>
          <p:nvPr/>
        </p:nvSpPr>
        <p:spPr>
          <a:xfrm>
            <a:off x="6117336" y="11155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WARREN TRUSS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17336" y="138988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Alternates tension/compression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17336" y="160934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verticals (basic form)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17336" y="184708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Equilateral triangles with alternating diagonal directions. Simple and efficient.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17336" y="232257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 verticals in basic Warren — only alternating diagonals.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980944"/>
            <a:ext cx="2743200" cy="181051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2980944"/>
            <a:ext cx="2743200" cy="36576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0723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PARKER TRUSS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" y="33467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Pratt (tension)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35661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Pratt (compression)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3803904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Pratt variant with a curved top chord — deeper at center where moments are highest.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" y="4279392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Also called 'camelback truss' for its arched profile.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27248" y="2980944"/>
            <a:ext cx="2743200" cy="181051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27248" y="2980944"/>
            <a:ext cx="2743200" cy="3657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9" name="Text 37"/>
          <p:cNvSpPr/>
          <p:nvPr/>
        </p:nvSpPr>
        <p:spPr>
          <a:xfrm>
            <a:off x="3218688" y="30723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BOWSTRING TRUSS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18688" y="33467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arched top chord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18688" y="35661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18688" y="3803904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Arched top chord (in compression like a bow) with straight bottom chord in tension.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18688" y="4279392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Bottom chord acts like a bowstring. The arch carries loads by compression.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25896" y="2980944"/>
            <a:ext cx="2743200" cy="181051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25896" y="2980944"/>
            <a:ext cx="2743200" cy="36576"/>
          </a:xfrm>
          <a:prstGeom prst="rect">
            <a:avLst/>
          </a:prstGeom>
          <a:solidFill>
            <a:srgbClr val="AABBCC"/>
          </a:solidFill>
          <a:ln/>
        </p:spPr>
      </p:sp>
      <p:sp>
        <p:nvSpPr>
          <p:cNvPr id="46" name="Text 44"/>
          <p:cNvSpPr/>
          <p:nvPr/>
        </p:nvSpPr>
        <p:spPr>
          <a:xfrm>
            <a:off x="6117336" y="30723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K-TRUSS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17336" y="33467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diagonals meet each vertical at mid-height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17336" y="35661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vertical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17336" y="3803904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for K-shaped panels. Used for tall long-span bridges.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17336" y="4279392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Each panel looks like the letter K — one diagonal up, one diagonal down.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00B4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Tension, Compression &amp; Force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00B4FF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BUILDING  •  VA Division A  •  5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2779776" cy="3840480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51560"/>
            <a:ext cx="2779776" cy="329184"/>
          </a:xfrm>
          <a:prstGeom prst="rect">
            <a:avLst/>
          </a:prstGeom>
          <a:solidFill>
            <a:srgbClr val="00E096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08813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E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453896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Forces PULL the member apart (stretching)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929384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Member elongates under 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404872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Bottom chord of a loaded bridge = tension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88036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Diagonal members in Pratt truss = tension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355848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Straw bridges fail in tension at joints — tape carefully!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831336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Tension members can be made from thinner material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306824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String, wire, and rubber bands resist tension well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45536" y="1051560"/>
            <a:ext cx="2779776" cy="3840480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051560"/>
            <a:ext cx="2779776" cy="329184"/>
          </a:xfrm>
          <a:prstGeom prst="rect">
            <a:avLst/>
          </a:prstGeom>
          <a:solidFill>
            <a:srgbClr val="FFB40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36976" y="108813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B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36976" y="1453896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Forces PUSH the member together (squeezing)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36976" y="1929384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Member shortens or BUCKLES under compression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36976" y="2404872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Top chord of a loaded bridge = compression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36976" y="288036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Diagonal members in Howe truss = compression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36976" y="3355848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Straw bridges fail in compression by buckling!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36976" y="3831336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Bundle straws or slide one inside another to resist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36976" y="4306824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Short, fat columns resist buckling better than long thin ones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71616" y="1051560"/>
            <a:ext cx="2843784" cy="3840480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1051560"/>
            <a:ext cx="2843784" cy="329184"/>
          </a:xfrm>
          <a:prstGeom prst="rect">
            <a:avLst/>
          </a:prstGeom>
          <a:solidFill>
            <a:srgbClr val="00B4FF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63056" y="1088136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METHODS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63056" y="1453896"/>
            <a:ext cx="2660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Method of Joints: apply ΣFx=0 and ΣFy=0 at each joint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63056" y="1929384"/>
            <a:ext cx="2660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Start at a joint with only 2 unknown forces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63056" y="2404872"/>
            <a:ext cx="2660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Unknown = member force (+ tension, − compression)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63056" y="2880360"/>
            <a:ext cx="2660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Method of Sections: cut through 3 members max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63056" y="3355848"/>
            <a:ext cx="2660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Take equilibrium of one half to find cut member forces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63056" y="3831336"/>
            <a:ext cx="2660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Useful when only a few members need analysis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63056" y="4306824"/>
            <a:ext cx="2660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Both methods assume pin (hinge) joints — no bending at joints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00B4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Build Strategy — 25-Minute Session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00B4FF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BUILDING  •  VA Division A  •  6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4224528" cy="117043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51560"/>
            <a:ext cx="402336" cy="1170432"/>
          </a:xfrm>
          <a:prstGeom prst="rect">
            <a:avLst/>
          </a:prstGeom>
          <a:solidFill>
            <a:srgbClr val="00B4FF">
              <a:alpha val="6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51560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" y="110642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first (0–3 min)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2376" y="1399032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your Warren or Pratt truss. Count straws: ~10 for bottom chord + verticals, ~8 for top chord, ~8 for diagonals, 4 reserve. Set target height (aim high!).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1051560"/>
            <a:ext cx="4224528" cy="117043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051560"/>
            <a:ext cx="402336" cy="1170432"/>
          </a:xfrm>
          <a:prstGeom prst="rect">
            <a:avLst/>
          </a:prstGeom>
          <a:solidFill>
            <a:srgbClr val="FFB400">
              <a:alpha val="6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051560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75504" y="110642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roles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75504" y="1399032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takes the written test. The other leads the build. Both must know the 10cm width requirement and know not to block the 5×5 loading block path.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350008"/>
            <a:ext cx="4224528" cy="117043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350008"/>
            <a:ext cx="402336" cy="1170432"/>
          </a:xfrm>
          <a:prstGeom prst="rect">
            <a:avLst/>
          </a:prstGeom>
          <a:solidFill>
            <a:srgbClr val="00E096">
              <a:alpha val="6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2350008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" y="24048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one truss side first (3–12 min)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" y="2697480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straws flat to form one side of the truss. Connect diagonals before lifting. Let tape set by pressing each joint firmly. Check width is ≥10 cm.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2350008"/>
            <a:ext cx="4224528" cy="117043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2350008"/>
            <a:ext cx="402336" cy="1170432"/>
          </a:xfrm>
          <a:prstGeom prst="rect">
            <a:avLst/>
          </a:prstGeom>
          <a:solidFill>
            <a:srgbClr val="9B79C7">
              <a:alpha val="6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2350008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75504" y="24048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second side + cross-bracing (12–20 min)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75504" y="2697480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 first side. Add cross-bracing connecting both sides — X-patterns on the faces resist racking. Cross-bracing also increases height if done vertically.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648456"/>
            <a:ext cx="4224528" cy="117043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648456"/>
            <a:ext cx="402336" cy="1170432"/>
          </a:xfrm>
          <a:prstGeom prst="rect">
            <a:avLst/>
          </a:prstGeom>
          <a:solidFill>
            <a:srgbClr val="FF4D6D">
              <a:alpha val="6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3648456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" y="37033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 and measure (20–24 min)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22376" y="3995928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center height to the nearest mm. Reinforce any loose joints. Check loading block path is clear. Measure width one final time — must be ≥10 cm!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81728" y="3648456"/>
            <a:ext cx="4224528" cy="1170432"/>
          </a:xfrm>
          <a:prstGeom prst="rect">
            <a:avLst/>
          </a:prstGeom>
          <a:solidFill>
            <a:srgbClr val="0C1326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81728" y="3648456"/>
            <a:ext cx="402336" cy="1170432"/>
          </a:xfrm>
          <a:prstGeom prst="rect">
            <a:avLst/>
          </a:prstGeom>
          <a:solidFill>
            <a:srgbClr val="AABBCC">
              <a:alpha val="6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681728" y="3648456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75504" y="37033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your straws (ongoing)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175504" y="3995928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complete straws are Tiebreaker 1. Do NOT cut straws unless necessary. Every whole straw saved is a potential tiebreaker win.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00B4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 Key Vocabulary &amp; Famous Bridges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00B4FF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BUILDING  •  VA Division A  •  7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42416"/>
            <a:ext cx="4224528" cy="23774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" y="10515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105156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of interconnected triangles that forms the load-bearing structure of a bridge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284732"/>
            <a:ext cx="4224528" cy="23774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" y="12938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1293876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or bottom horizontal member running the length of a truss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527048"/>
            <a:ext cx="4224528" cy="23774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15361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153619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Angled member connecting the top and bottom chords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1769364"/>
            <a:ext cx="4224528" cy="23774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" y="17785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37360" y="177850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member connecting the top and bottom chords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011680"/>
            <a:ext cx="4224528" cy="23774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" y="20208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2020824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that pulls a member apart — member elongates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253996"/>
            <a:ext cx="4224528" cy="23774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" y="22631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37360" y="226314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that squeezes a member together — member shortens or buckles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2496312"/>
            <a:ext cx="4224528" cy="23774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25054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Buckling: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37360" y="2505456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slender compression member suddenly bends sideways and fails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2738628"/>
            <a:ext cx="4224528" cy="23774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" y="27477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Joints: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737360" y="274777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truss forces using ΣFx=0, ΣFy=0 at each joint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90872" y="1042416"/>
            <a:ext cx="4224528" cy="23774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34" name="Text 32"/>
          <p:cNvSpPr/>
          <p:nvPr/>
        </p:nvSpPr>
        <p:spPr>
          <a:xfrm>
            <a:off x="4764024" y="10515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Truss: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105156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passes through the truss (between top and bottom chord)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90872" y="1284732"/>
            <a:ext cx="4224528" cy="23774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37" name="Text 35"/>
          <p:cNvSpPr/>
          <p:nvPr/>
        </p:nvSpPr>
        <p:spPr>
          <a:xfrm>
            <a:off x="4764024" y="12938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Truss: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99632" y="1293876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travels on top of the truss (on the top chord)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90872" y="1527048"/>
            <a:ext cx="4224528" cy="23774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40" name="Text 38"/>
          <p:cNvSpPr/>
          <p:nvPr/>
        </p:nvSpPr>
        <p:spPr>
          <a:xfrm>
            <a:off x="4764024" y="15361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Pratt Truss: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9632" y="153619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Diagonals in tension, verticals in compression. Diagonals lean inward.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90872" y="1769364"/>
            <a:ext cx="4224528" cy="23774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43" name="Text 41"/>
          <p:cNvSpPr/>
          <p:nvPr/>
        </p:nvSpPr>
        <p:spPr>
          <a:xfrm>
            <a:off x="4764024" y="17785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 Truss: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99632" y="177850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Diagonals in compression, verticals in tension. Opposite of Pratt.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90872" y="2011680"/>
            <a:ext cx="4224528" cy="23774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46" name="Text 44"/>
          <p:cNvSpPr/>
          <p:nvPr/>
        </p:nvSpPr>
        <p:spPr>
          <a:xfrm>
            <a:off x="4764024" y="20208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Warren Truss: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99632" y="2020824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diagonals, no verticals in basic form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90872" y="2253996"/>
            <a:ext cx="4224528" cy="23774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49" name="Text 47"/>
          <p:cNvSpPr/>
          <p:nvPr/>
        </p:nvSpPr>
        <p:spPr>
          <a:xfrm>
            <a:off x="4764024" y="22631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Bowstring Truss: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99632" y="226314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Arched top chord (compression) with straight tension bottom chord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90872" y="2496312"/>
            <a:ext cx="4224528" cy="237744"/>
          </a:xfrm>
          <a:prstGeom prst="rect">
            <a:avLst/>
          </a:prstGeom>
          <a:solidFill>
            <a:srgbClr val="0C1326"/>
          </a:solidFill>
          <a:ln/>
        </p:spPr>
      </p:sp>
      <p:sp>
        <p:nvSpPr>
          <p:cNvPr id="52" name="Text 50"/>
          <p:cNvSpPr/>
          <p:nvPr/>
        </p:nvSpPr>
        <p:spPr>
          <a:xfrm>
            <a:off x="4764024" y="25054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99632" y="2505456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Height Score — your bridge's center height in mm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90872" y="2738628"/>
            <a:ext cx="4224528" cy="237744"/>
          </a:xfrm>
          <a:prstGeom prst="rect">
            <a:avLst/>
          </a:prstGeom>
          <a:solidFill>
            <a:srgbClr val="050810"/>
          </a:solidFill>
          <a:ln/>
        </p:spPr>
      </p:sp>
      <p:sp>
        <p:nvSpPr>
          <p:cNvPr id="55" name="Text 53"/>
          <p:cNvSpPr/>
          <p:nvPr/>
        </p:nvSpPr>
        <p:spPr>
          <a:xfrm>
            <a:off x="4764024" y="27477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99632" y="274777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Height Score — tallest bridge among all teams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Building — Study Slides</dc:title>
  <dc:subject>PptxGenJS Presentation</dc:subject>
  <dc:creator>PptxGenJS</dc:creator>
  <cp:lastModifiedBy>PptxGenJS</cp:lastModifiedBy>
  <cp:revision>1</cp:revision>
  <dcterms:created xsi:type="dcterms:W3CDTF">2026-03-26T02:34:25Z</dcterms:created>
  <dcterms:modified xsi:type="dcterms:W3CDTF">2026-03-26T02:34:25Z</dcterms:modified>
</cp:coreProperties>
</file>