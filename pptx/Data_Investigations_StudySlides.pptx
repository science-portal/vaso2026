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7498080" y="-548640"/>
            <a:ext cx="1828800" cy="1828800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640080" y="3566160"/>
            <a:ext cx="2011680" cy="2011680"/>
          </a:xfrm>
          <a:prstGeom prst="rect">
            <a:avLst/>
          </a:prstGeom>
          <a:solidFill>
            <a:srgbClr val="4FC3F7">
              <a:alpha val="35000"/>
            </a:srgbClr>
          </a:solidFill>
          <a:ln w="12700">
            <a:solidFill>
              <a:srgbClr val="4FC3F7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3108960" y="914400"/>
            <a:ext cx="2926080" cy="2926080"/>
          </a:xfrm>
          <a:prstGeom prst="rect">
            <a:avLst/>
          </a:prstGeom>
          <a:solidFill>
            <a:srgbClr val="4FC3F7">
              <a:alpha val="18000"/>
            </a:srgbClr>
          </a:solidFill>
          <a:ln w="12700">
            <a:solidFill>
              <a:srgbClr val="4FC3F7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 DIVISION A  •  GRADES 3–4  •  2025–2026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Investigations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  •  2025–2026 Season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6032" y="3310128"/>
            <a:ext cx="2779776" cy="402336"/>
          </a:xfrm>
          <a:prstGeom prst="rect">
            <a:avLst/>
          </a:prstGeom>
          <a:solidFill>
            <a:srgbClr val="0A1E30">
              <a:alpha val="9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3310128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63824" y="3310128"/>
            <a:ext cx="2779776" cy="402336"/>
          </a:xfrm>
          <a:prstGeom prst="rect">
            <a:avLst/>
          </a:prstGeom>
          <a:solidFill>
            <a:srgbClr val="0A1E30">
              <a:alpha val="9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3310128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3310128"/>
            <a:ext cx="2779776" cy="402336"/>
          </a:xfrm>
          <a:prstGeom prst="rect">
            <a:avLst/>
          </a:prstGeom>
          <a:solidFill>
            <a:srgbClr val="0A1E30">
              <a:alpha val="9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3310128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3785616"/>
            <a:ext cx="2779776" cy="402336"/>
          </a:xfrm>
          <a:prstGeom prst="rect">
            <a:avLst/>
          </a:prstGeom>
          <a:solidFill>
            <a:srgbClr val="060C18">
              <a:alpha val="9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3785616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Mean/Median/Mode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3785616"/>
            <a:ext cx="2779776" cy="402336"/>
          </a:xfrm>
          <a:prstGeom prst="rect">
            <a:avLst/>
          </a:prstGeom>
          <a:solidFill>
            <a:srgbClr val="060C18">
              <a:alpha val="9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63824" y="3785616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Precision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71616" y="3785616"/>
            <a:ext cx="2779776" cy="402336"/>
          </a:xfrm>
          <a:prstGeom prst="rect">
            <a:avLst/>
          </a:prstGeom>
          <a:solidFill>
            <a:srgbClr val="060C18">
              <a:alpha val="9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3785616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Conclusions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Event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4FC3F7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C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INVESTIGATIONS  •  VA Division A  •  1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40080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9728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demonstrate understanding of data collection and its use in scientific experimentation, including answering questions on data collected during a scientific experiment.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810512"/>
            <a:ext cx="8686800" cy="4572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9110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45920" y="1911096"/>
            <a:ext cx="7187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written questions. 30-minute session on the team written test schedule.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95144"/>
            <a:ext cx="8686800" cy="4572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395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45920" y="2395728"/>
            <a:ext cx="7187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Pencils and a four-function calculator. No other materials needed.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779776"/>
            <a:ext cx="8686800" cy="4572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80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45920" y="2880360"/>
            <a:ext cx="7187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required for this event.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264408"/>
            <a:ext cx="8686800" cy="4572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364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45920" y="3364992"/>
            <a:ext cx="7187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graphs and tables, calculating mean/median/mode, identifying variables, accuracy vs. precision, drawing conclusions from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749040"/>
            <a:ext cx="8686800" cy="4572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849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tested: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45920" y="3849624"/>
            <a:ext cx="7187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Collect/represent data in graphs and tables, plot data points, make estimates, calculate fractions and percentages, distinguish accuracy from precision, identify outliers.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4233672"/>
            <a:ext cx="8686800" cy="4572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45920" y="4334256"/>
            <a:ext cx="7187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 each correct response. Ties broken by accuracy on selected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Types of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4FC3F7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C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INVESTIGATIONS  •  VA Division A  •  2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58368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information gathered during an experiment. It can be numbers (quantitative) or descriptions (qualitative). Understanding the difference is a core test topic.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2743200" cy="2889504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828800"/>
            <a:ext cx="2743200" cy="329184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653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QUANTITATIVE 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2231136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Uses NUMBERS and measurements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70662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Examples: plant grew 5 cm, temperature was 23°C, 14 birds observed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18211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Collected with tools: rulers, thermometers, scales, timers, graduated cylinders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65760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Can be used in calculations (mean, median, range)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133088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Can be graphed as a bar graph or line graph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27248" y="1828800"/>
            <a:ext cx="2743200" cy="2889504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27248" y="1828800"/>
            <a:ext cx="2743200" cy="329184"/>
          </a:xfrm>
          <a:prstGeom prst="rect">
            <a:avLst/>
          </a:prstGeom>
          <a:solidFill>
            <a:srgbClr val="F5C842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18688" y="18653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QUALITATIVE DATA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18688" y="2231136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Describes QUALITIES or characteristics using words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18688" y="270662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Examples: the flower is red, the liquid smelled like vinegar, the dog was barking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18688" y="318211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Cannot be directly calculated or averaged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18688" y="365760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Useful for observations and descriptions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18688" y="4133088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Can be organized in a table but not on a number 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25896" y="1828800"/>
            <a:ext cx="2743200" cy="2889504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25896" y="1828800"/>
            <a:ext cx="2743200" cy="329184"/>
          </a:xfrm>
          <a:prstGeom prst="rect">
            <a:avLst/>
          </a:prstGeom>
          <a:solidFill>
            <a:srgbClr val="7BC67E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17336" y="18653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QUESTIONS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17336" y="2231136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Numerical: answer is a number (How many? How much? How long?)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17336" y="270662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Categorical: answer is a category (What type? Which group? What color?)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17336" y="318211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Change over time: data collected at multiple time points showing a trend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17336" y="365760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question type determines which graph or table to use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17336" y="4133088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Knowing the question type helps you choose the right data display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Graphs, Tables &amp; Data Display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4FC3F7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C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INVESTIGATIONS  •  VA Division A  •  3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40080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9728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graph is a key skill. Always check: axis labels, units, scale, and the title. These details are often where test questions focus.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4224528" cy="1316736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828800"/>
            <a:ext cx="4224528" cy="329184"/>
          </a:xfrm>
          <a:prstGeom prst="rect">
            <a:avLst/>
          </a:prstGeom>
          <a:solidFill>
            <a:srgbClr val="4FC3F7">
              <a:alpha val="6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653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▌  BAR GRAPH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17627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Comparing different CATEGORIES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239572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Comparing heights of 5 different plants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63347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do not touch (usually)  •  X-axis: categories  Y-axis: values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1828800"/>
            <a:ext cx="4224528" cy="1316736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1828800"/>
            <a:ext cx="4224528" cy="329184"/>
          </a:xfrm>
          <a:prstGeom prst="rect">
            <a:avLst/>
          </a:prstGeom>
          <a:solidFill>
            <a:srgbClr val="7BC67E">
              <a:alpha val="6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18653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↗  LINE GRAPH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17627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Showing TRENDS OVER TIME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239572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Temperature changing throughout the week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263347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connected by lines  •  X-axis: time  Y-axis: measured value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273552"/>
            <a:ext cx="4224528" cy="1316736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273552"/>
            <a:ext cx="4224528" cy="329184"/>
          </a:xfrm>
          <a:prstGeom prst="rect">
            <a:avLst/>
          </a:prstGeom>
          <a:solidFill>
            <a:srgbClr val="F5C842">
              <a:alpha val="6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310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  PIE CHART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62102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Showing PARTS OF A WHOLE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384048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Percentage breakdown of 3 soil types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078224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sections add up to 100%  •  Best for proportional/percentage 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3273552"/>
            <a:ext cx="4224528" cy="1316736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3273552"/>
            <a:ext cx="4224528" cy="329184"/>
          </a:xfrm>
          <a:prstGeom prst="rect">
            <a:avLst/>
          </a:prstGeom>
          <a:solidFill>
            <a:srgbClr val="9B79C7">
              <a:alpha val="6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310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⊟  DATA TABLE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62102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ORGANIZING raw data precisely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3168" y="384048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Tracking plant height each day for 7 days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4078224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individual measurements or trials  •  Columns = variables being measured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Variables in Scientific Experiments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4FC3F7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C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INVESTIGATIONS  •  VA Division A  •  4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58368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anything that can change in an experiment. Identifying variables correctly is one of the most-tested skills in Data Investigations.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4224528" cy="1316736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828800"/>
            <a:ext cx="54864" cy="1316736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" y="19019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INDEPENDENT VARIABLE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" y="221284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the scientist CHANGES on purpose.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" y="248716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Amount of fertilizer given to each plant group.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761488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There is only ONE independent variable in a controlled experiment. Look for what the scientist changed deliberately.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1828800"/>
            <a:ext cx="4224528" cy="1316736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1828800"/>
            <a:ext cx="54864" cy="131673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19019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 VARIABLE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221284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that is MEASURED — it depends on the independent variable.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248716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How tall the plants grew (measured in cm).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2761488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Ask: 'What did the scientist measure?' That's the dependent variable. It goes on the Y-axis of a graph.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273552"/>
            <a:ext cx="4224528" cy="1316736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273552"/>
            <a:ext cx="54864" cy="1316736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" y="334670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VARIABLES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" y="365760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that are KEPT THE SAME in all groups to make the test fair.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4904" y="393192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Same soil type, same amount of water, same sunlight, same pot size for all groups.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" y="4206240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Also called 'constants'. If these aren't controlled, you can't know if the independent variable caused the effect.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3273552"/>
            <a:ext cx="4224528" cy="1316736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3273552"/>
            <a:ext cx="54864" cy="1316736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334670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365760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testable PREDICTION about what will happen in the experiment.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28032" y="393192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'If plants receive more fertilizer, then they will grow taller.'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4206240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Format: 'If [independent variable], then [dependent variable].' Must be testable and falsifiable.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🧮  Mean, Median, Mode &amp; Range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4FC3F7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C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INVESTIGATIONS  •  VA Division A  •  5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03504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972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calculations appear on almost every Data Investigations test. Know the definitions AND be able to calculate them from a data set.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783080"/>
            <a:ext cx="4224528" cy="1444752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783080"/>
            <a:ext cx="4224528" cy="329184"/>
          </a:xfrm>
          <a:prstGeom prst="rect">
            <a:avLst/>
          </a:prstGeom>
          <a:solidFill>
            <a:srgbClr val="4FC3F7">
              <a:alpha val="7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1965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(Average)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218541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values, then divide by the count of values.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459736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4, 7, 5, 8, 6  →  Sum = 30  →  30 ÷ 5 = 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84378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Most common measure of average. Affected by outliers (extreme values).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1783080"/>
            <a:ext cx="4224528" cy="1444752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1783080"/>
            <a:ext cx="4224528" cy="329184"/>
          </a:xfrm>
          <a:prstGeom prst="rect">
            <a:avLst/>
          </a:prstGeom>
          <a:solidFill>
            <a:srgbClr val="7BC67E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181965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 (Middle)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73168" y="218541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when data is arranged in order.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2459736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4, 5, 6, 7, 8  →  Middle value = 6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count: average the two middle values.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284378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NOT affected by outliers — better for skewed data sets.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337560"/>
            <a:ext cx="4224528" cy="1444752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337560"/>
            <a:ext cx="4224528" cy="329184"/>
          </a:xfrm>
          <a:prstGeom prst="rect">
            <a:avLst/>
          </a:prstGeom>
          <a:solidFill>
            <a:srgbClr val="F5C842">
              <a:alpha val="7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3741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(Most Common)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" y="373989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that appears MOST OFTEN in a data set.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014216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3, 5, 5, 7, 9  →  Mode = 5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set can have no mode, one mode, or multiple modes.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3982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Useful for categorical data (e.g., most popular color).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3337560"/>
            <a:ext cx="4224528" cy="1444752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3337560"/>
            <a:ext cx="4224528" cy="329184"/>
          </a:xfrm>
          <a:prstGeom prst="rect">
            <a:avLst/>
          </a:prstGeom>
          <a:solidFill>
            <a:srgbClr val="E05C40">
              <a:alpha val="7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3741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 (Spread)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73168" y="373989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maximum and minimum values.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4014216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4, 5, 6, 7, 8  →  Range = 8 – 4 =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43982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Tells you how spread out the data is. Large range = more variability.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Accuracy, Precision &amp; Outliers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4FC3F7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C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INVESTIGATIONS  •  VA Division A  •  6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24128"/>
            <a:ext cx="2743200" cy="3749040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24128"/>
            <a:ext cx="2743200" cy="347472"/>
          </a:xfrm>
          <a:prstGeom prst="rect">
            <a:avLst/>
          </a:prstGeom>
          <a:solidFill>
            <a:srgbClr val="7BC67E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0607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444752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How CLOSE measurements are to the TRUE or accepted value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066544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measurement is accurate if it is correct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688336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Example: True mass = 50g. Measurements: 49.8g, 50.1g, 50.2g = ACCURATE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310128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Example: True mass = 50g. Measurements: 45g, 44g, 46g = INACCURATE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931920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You can be precise but not accurate (consistently wrong)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27248" y="1024128"/>
            <a:ext cx="2743200" cy="3749040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27248" y="1024128"/>
            <a:ext cx="2743200" cy="347472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0607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18688" y="1444752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How CONSISTENT or REPEATABLE measurements 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18688" y="2066544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Precise measurements are close to EACH OTHER (not necessarily the true value)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18688" y="2688336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Example: Measurements 47g, 47.1g, 46.9g = PRECISE (but not accurate if true = 50g)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18688" y="3310128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Example: Measurements 30g, 50g, 70g = NOT PRECISE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18688" y="3931920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good experiment needs BOTH accuracy and precision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25896" y="1024128"/>
            <a:ext cx="2743200" cy="3749040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1024128"/>
            <a:ext cx="2743200" cy="347472"/>
          </a:xfrm>
          <a:prstGeom prst="rect">
            <a:avLst/>
          </a:prstGeom>
          <a:solidFill>
            <a:srgbClr val="E05C40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117336" y="10607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17336" y="1444752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data point that is VERY DIFFERENT from the other values in a set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17336" y="2066544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Example: Data set 10, 11, 12, 13, 45  →  45 is an outlier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17336" y="2688336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Outliers can affect the MEAN significantly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17336" y="3310128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They may indicate: measurement error, a different condition, or unusual event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17336" y="3931920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Should be noted and investigated — not automatically deleted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 Drawing Conclusions &amp; Key Vocabulary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solidFill>
            <a:srgbClr val="4FC3F7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801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C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INVESTIGATIONS  •  VA Division A  •  7 of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03504"/>
          </a:xfrm>
          <a:prstGeom prst="rect">
            <a:avLst/>
          </a:prstGeom>
          <a:solidFill>
            <a:srgbClr val="0A1E30"/>
          </a:solidFill>
          <a:ln/>
          <a:effectLst>
            <a:outerShdw sx="100000" sy="100000" kx="0" ky="0" algn="bl" rotWithShape="0" blurRad="1290320000" dist="322580000" dir="486000000000">
              <a:srgbClr val="000000">
                <a:alpha val="3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972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valid conclusions from data is the final — and most important — step in scientific experimentation. Conclusions must be supported by evidence, not opinion.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773936"/>
            <a:ext cx="4224528" cy="2286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783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91640" y="178308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gathered during an experiment (numbers or descriptions)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011680"/>
            <a:ext cx="4224528" cy="2286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" y="2020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91640" y="202082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qualities using words — not numbers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249424"/>
            <a:ext cx="4224528" cy="2286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91640" y="225856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numbers and measurements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487168"/>
            <a:ext cx="4224528" cy="2286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" y="2496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249631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the scientist changes on purpose (X-axis)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724912"/>
            <a:ext cx="4224528" cy="2286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2734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91640" y="2734056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that is measured; depends on independent var (Y-axis)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962656"/>
            <a:ext cx="4224528" cy="2286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" y="2971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variable: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91640" y="297180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kept the same to make the experiment fair (constants)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200400"/>
            <a:ext cx="4224528" cy="2286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" y="3209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91640" y="320954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testable prediction: 'If [X], then [Y]'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438144"/>
            <a:ext cx="4224528" cy="2286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33" name="Text 31"/>
          <p:cNvSpPr/>
          <p:nvPr/>
        </p:nvSpPr>
        <p:spPr>
          <a:xfrm>
            <a:off x="301752" y="3447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91640" y="344728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values ÷ number of values (average)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90872" y="1773936"/>
            <a:ext cx="4224528" cy="2286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6" name="Text 34"/>
          <p:cNvSpPr/>
          <p:nvPr/>
        </p:nvSpPr>
        <p:spPr>
          <a:xfrm>
            <a:off x="4764024" y="1783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53912" y="178308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 when data is sorted in order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90872" y="2011680"/>
            <a:ext cx="4224528" cy="2286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39" name="Text 37"/>
          <p:cNvSpPr/>
          <p:nvPr/>
        </p:nvSpPr>
        <p:spPr>
          <a:xfrm>
            <a:off x="4764024" y="2020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53912" y="202082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frequently occurring value in a data set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90872" y="2249424"/>
            <a:ext cx="4224528" cy="2286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42" name="Text 40"/>
          <p:cNvSpPr/>
          <p:nvPr/>
        </p:nvSpPr>
        <p:spPr>
          <a:xfrm>
            <a:off x="4764024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53912" y="225856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value minus minimum value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90872" y="2487168"/>
            <a:ext cx="4224528" cy="2286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45" name="Text 43"/>
          <p:cNvSpPr/>
          <p:nvPr/>
        </p:nvSpPr>
        <p:spPr>
          <a:xfrm>
            <a:off x="4764024" y="2496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53912" y="249631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point far outside the rest of the data set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90872" y="2724912"/>
            <a:ext cx="4224528" cy="2286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48" name="Text 46"/>
          <p:cNvSpPr/>
          <p:nvPr/>
        </p:nvSpPr>
        <p:spPr>
          <a:xfrm>
            <a:off x="4764024" y="2734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53912" y="2734056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measurements are to the true value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90872" y="2962656"/>
            <a:ext cx="4224528" cy="2286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51" name="Text 49"/>
          <p:cNvSpPr/>
          <p:nvPr/>
        </p:nvSpPr>
        <p:spPr>
          <a:xfrm>
            <a:off x="4764024" y="2971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53912" y="297180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consistent/repeatable measurements are to each other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90872" y="3200400"/>
            <a:ext cx="4224528" cy="2286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54" name="Text 52"/>
          <p:cNvSpPr/>
          <p:nvPr/>
        </p:nvSpPr>
        <p:spPr>
          <a:xfrm>
            <a:off x="4764024" y="3209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53912" y="320954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explaining what the data shows, supported by evidence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90872" y="3438144"/>
            <a:ext cx="4224528" cy="2286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57" name="Text 55"/>
          <p:cNvSpPr/>
          <p:nvPr/>
        </p:nvSpPr>
        <p:spPr>
          <a:xfrm>
            <a:off x="4764024" y="3447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53912" y="344728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in data that shows a consistent direction of change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Investigations Study Slides</dc:title>
  <dc:subject>PptxGenJS Presentation</dc:subject>
  <dc:creator>PptxGenJS</dc:creator>
  <cp:lastModifiedBy>PptxGenJS</cp:lastModifiedBy>
  <cp:revision>1</cp:revision>
  <dcterms:created xsi:type="dcterms:W3CDTF">2026-03-14T20:35:04Z</dcterms:created>
  <dcterms:modified xsi:type="dcterms:W3CDTF">2026-03-14T20:35:04Z</dcterms:modified>
</cp:coreProperties>
</file>