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-182880"/>
            <a:ext cx="1463040" cy="1463040"/>
          </a:xfrm>
          <a:prstGeom prst="oval">
            <a:avLst/>
          </a:prstGeom>
          <a:solidFill>
            <a:srgbClr val="E05C40">
              <a:alpha val="45000"/>
            </a:srgbClr>
          </a:solidFill>
          <a:ln w="12700">
            <a:solidFill>
              <a:srgbClr val="E05C40">
                <a:alpha val="2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223760" y="-274320"/>
            <a:ext cx="1280160" cy="1280160"/>
          </a:xfrm>
          <a:prstGeom prst="oval">
            <a:avLst/>
          </a:prstGeom>
          <a:solidFill>
            <a:srgbClr val="E05C40">
              <a:alpha val="40000"/>
            </a:srgbClr>
          </a:solidFill>
          <a:ln w="12700">
            <a:solidFill>
              <a:srgbClr val="E05C40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91840" y="1005840"/>
            <a:ext cx="2560320" cy="2560320"/>
          </a:xfrm>
          <a:prstGeom prst="oval">
            <a:avLst/>
          </a:prstGeom>
          <a:solidFill>
            <a:srgbClr val="E05C40">
              <a:alpha val="20000"/>
            </a:srgbClr>
          </a:solidFill>
          <a:ln w="12700">
            <a:solidFill>
              <a:srgbClr val="E05C40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" y="3337560"/>
            <a:ext cx="822960" cy="822960"/>
          </a:xfrm>
          <a:prstGeom prst="oval">
            <a:avLst/>
          </a:prstGeom>
          <a:solidFill>
            <a:srgbClr val="E05C40">
              <a:alpha val="40000"/>
            </a:srgbClr>
          </a:solidFill>
          <a:ln w="12700">
            <a:solidFill>
              <a:srgbClr val="E05C40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09560" y="3063240"/>
            <a:ext cx="1005840" cy="1005840"/>
          </a:xfrm>
          <a:prstGeom prst="oval">
            <a:avLst/>
          </a:prstGeom>
          <a:solidFill>
            <a:srgbClr val="E05C40">
              <a:alpha val="35000"/>
            </a:srgbClr>
          </a:solidFill>
          <a:ln w="12700">
            <a:solidFill>
              <a:srgbClr val="E05C40">
                <a:alpha val="2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291840"/>
            <a:ext cx="9144000" cy="1851660"/>
          </a:xfrm>
          <a:prstGeom prst="rect">
            <a:avLst/>
          </a:prstGeom>
          <a:solidFill>
            <a:srgbClr val="0A152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572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800" kern="0" dirty="0">
                <a:solidFill>
                  <a:srgbClr val="E05C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 DIVISION A  •  GRADES 3–4  •  2025–2026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841248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Bungee Egg Drop</a:t>
            </a:r>
            <a:endParaRPr lang="en-US" sz="5000" dirty="0"/>
          </a:p>
        </p:txBody>
      </p:sp>
      <p:sp>
        <p:nvSpPr>
          <p:cNvPr id="10" name="Text 8"/>
          <p:cNvSpPr/>
          <p:nvPr/>
        </p:nvSpPr>
        <p:spPr>
          <a:xfrm>
            <a:off x="457200" y="2194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 Project Slides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256032" y="3383280"/>
            <a:ext cx="2779776" cy="384048"/>
          </a:xfrm>
          <a:prstGeom prst="rect">
            <a:avLst/>
          </a:prstGeom>
          <a:solidFill>
            <a:srgbClr val="1A2A3A">
              <a:alpha val="90000"/>
            </a:srgbClr>
          </a:solidFill>
          <a:ln w="12700">
            <a:solidFill>
              <a:srgbClr val="E05C40">
                <a:alpha val="38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" y="3383280"/>
            <a:ext cx="27797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5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Rules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163824" y="3383280"/>
            <a:ext cx="2779776" cy="384048"/>
          </a:xfrm>
          <a:prstGeom prst="rect">
            <a:avLst/>
          </a:prstGeom>
          <a:solidFill>
            <a:srgbClr val="1A2A3A">
              <a:alpha val="90000"/>
            </a:srgbClr>
          </a:solidFill>
          <a:ln w="12700">
            <a:solidFill>
              <a:srgbClr val="E05C40">
                <a:alpha val="38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63824" y="3383280"/>
            <a:ext cx="27797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5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Formula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71616" y="3383280"/>
            <a:ext cx="2779776" cy="384048"/>
          </a:xfrm>
          <a:prstGeom prst="rect">
            <a:avLst/>
          </a:prstGeom>
          <a:solidFill>
            <a:srgbClr val="1A2A3A">
              <a:alpha val="90000"/>
            </a:srgbClr>
          </a:solidFill>
          <a:ln w="12700">
            <a:solidFill>
              <a:srgbClr val="E05C40">
                <a:alpha val="38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71616" y="3383280"/>
            <a:ext cx="27797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5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Horizon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56032" y="3840480"/>
            <a:ext cx="2779776" cy="384048"/>
          </a:xfrm>
          <a:prstGeom prst="rect">
            <a:avLst/>
          </a:prstGeom>
          <a:solidFill>
            <a:srgbClr val="0A1520">
              <a:alpha val="90000"/>
            </a:srgbClr>
          </a:solidFill>
          <a:ln w="12700">
            <a:solidFill>
              <a:srgbClr val="E05C40">
                <a:alpha val="38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" y="3840480"/>
            <a:ext cx="27797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67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Bungee Design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163824" y="3840480"/>
            <a:ext cx="2779776" cy="384048"/>
          </a:xfrm>
          <a:prstGeom prst="rect">
            <a:avLst/>
          </a:prstGeom>
          <a:solidFill>
            <a:srgbClr val="0A1520">
              <a:alpha val="90000"/>
            </a:srgbClr>
          </a:solidFill>
          <a:ln w="12700">
            <a:solidFill>
              <a:srgbClr val="E05C40">
                <a:alpha val="38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63824" y="3840480"/>
            <a:ext cx="27797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67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Physics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71616" y="3840480"/>
            <a:ext cx="2779776" cy="384048"/>
          </a:xfrm>
          <a:prstGeom prst="rect">
            <a:avLst/>
          </a:prstGeom>
          <a:solidFill>
            <a:srgbClr val="0A1520">
              <a:alpha val="90000"/>
            </a:srgbClr>
          </a:solidFill>
          <a:ln w="12700">
            <a:solidFill>
              <a:srgbClr val="E05C40">
                <a:alpha val="38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71616" y="3840480"/>
            <a:ext cx="27797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67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 Tips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431596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56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rubber band bungee system to stop a raw egg as close as possible to the Artificial Horizon without going past it.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5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86968"/>
            <a:ext cx="9144000" cy="45720"/>
          </a:xfrm>
          <a:prstGeom prst="rect">
            <a:avLst/>
          </a:prstGeom>
          <a:solidFill>
            <a:srgbClr val="E05C4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 Event at a Glance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0C14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490118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7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Bungee Egg Drop  •  Slide 1 of 10  •  VA Division A 2025–2026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" y="1078992"/>
            <a:ext cx="1402080" cy="1005840"/>
          </a:xfrm>
          <a:prstGeom prst="rect">
            <a:avLst/>
          </a:prstGeom>
          <a:solidFill>
            <a:srgbClr val="0D1F30"/>
          </a:solidFill>
          <a:ln/>
          <a:effectLst>
            <a:outerShdw sx="100000" sy="100000" kx="0" ky="0" algn="bl" rotWithShape="0" blurRad="101600" dist="25400" dir="8100000">
              <a:srgbClr val="000000">
                <a:alpha val="3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1078992"/>
            <a:ext cx="1402080" cy="54864"/>
          </a:xfrm>
          <a:prstGeom prst="rect">
            <a:avLst/>
          </a:prstGeom>
          <a:solidFill>
            <a:srgbClr val="E05C40"/>
          </a:solidFill>
          <a:ln/>
        </p:spPr>
      </p:sp>
      <p:sp>
        <p:nvSpPr>
          <p:cNvPr id="9" name="Text 7"/>
          <p:cNvSpPr/>
          <p:nvPr/>
        </p:nvSpPr>
        <p:spPr>
          <a:xfrm>
            <a:off x="228600" y="1207008"/>
            <a:ext cx="1402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05C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28600" y="1682496"/>
            <a:ext cx="140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per team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722120" y="1078992"/>
            <a:ext cx="1402080" cy="1005840"/>
          </a:xfrm>
          <a:prstGeom prst="rect">
            <a:avLst/>
          </a:prstGeom>
          <a:solidFill>
            <a:srgbClr val="0D1F30"/>
          </a:solidFill>
          <a:ln/>
          <a:effectLst>
            <a:outerShdw sx="100000" sy="100000" kx="0" ky="0" algn="bl" rotWithShape="0" blurRad="101600" dist="25400" dir="8100000">
              <a:srgbClr val="000000">
                <a:alpha val="3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722120" y="1078992"/>
            <a:ext cx="1402080" cy="54864"/>
          </a:xfrm>
          <a:prstGeom prst="rect">
            <a:avLst/>
          </a:prstGeom>
          <a:solidFill>
            <a:srgbClr val="E05C40"/>
          </a:solidFill>
          <a:ln/>
        </p:spPr>
      </p:sp>
      <p:sp>
        <p:nvSpPr>
          <p:cNvPr id="13" name="Text 11"/>
          <p:cNvSpPr/>
          <p:nvPr/>
        </p:nvSpPr>
        <p:spPr>
          <a:xfrm>
            <a:off x="1722120" y="1207008"/>
            <a:ext cx="1402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05C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25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722120" y="1682496"/>
            <a:ext cx="140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build + test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15640" y="1078992"/>
            <a:ext cx="1402080" cy="1005840"/>
          </a:xfrm>
          <a:prstGeom prst="rect">
            <a:avLst/>
          </a:prstGeom>
          <a:solidFill>
            <a:srgbClr val="0D1F30"/>
          </a:solidFill>
          <a:ln/>
          <a:effectLst>
            <a:outerShdw sx="100000" sy="100000" kx="0" ky="0" algn="bl" rotWithShape="0" blurRad="101600" dist="25400" dir="8100000">
              <a:srgbClr val="000000">
                <a:alpha val="3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15640" y="1078992"/>
            <a:ext cx="1402080" cy="54864"/>
          </a:xfrm>
          <a:prstGeom prst="rect">
            <a:avLst/>
          </a:prstGeom>
          <a:solidFill>
            <a:srgbClr val="E05C40"/>
          </a:solidFill>
          <a:ln/>
        </p:spPr>
      </p:sp>
      <p:sp>
        <p:nvSpPr>
          <p:cNvPr id="17" name="Text 15"/>
          <p:cNvSpPr/>
          <p:nvPr/>
        </p:nvSpPr>
        <p:spPr>
          <a:xfrm>
            <a:off x="3215640" y="1207008"/>
            <a:ext cx="1402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05C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3215640" y="1682496"/>
            <a:ext cx="140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Drops allowed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09160" y="1078992"/>
            <a:ext cx="1402080" cy="1005840"/>
          </a:xfrm>
          <a:prstGeom prst="rect">
            <a:avLst/>
          </a:prstGeom>
          <a:solidFill>
            <a:srgbClr val="0D1F30"/>
          </a:solidFill>
          <a:ln/>
          <a:effectLst>
            <a:outerShdw sx="100000" sy="100000" kx="0" ky="0" algn="bl" rotWithShape="0" blurRad="101600" dist="25400" dir="8100000">
              <a:srgbClr val="000000">
                <a:alpha val="3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1078992"/>
            <a:ext cx="1402080" cy="54864"/>
          </a:xfrm>
          <a:prstGeom prst="rect">
            <a:avLst/>
          </a:prstGeom>
          <a:solidFill>
            <a:srgbClr val="E05C40"/>
          </a:solidFill>
          <a:ln/>
        </p:spPr>
      </p:sp>
      <p:sp>
        <p:nvSpPr>
          <p:cNvPr id="21" name="Text 19"/>
          <p:cNvSpPr/>
          <p:nvPr/>
        </p:nvSpPr>
        <p:spPr>
          <a:xfrm>
            <a:off x="4709160" y="1207008"/>
            <a:ext cx="1402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05C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50cm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4709160" y="1682496"/>
            <a:ext cx="140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Tape provided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202680" y="1078992"/>
            <a:ext cx="1402080" cy="1005840"/>
          </a:xfrm>
          <a:prstGeom prst="rect">
            <a:avLst/>
          </a:prstGeom>
          <a:solidFill>
            <a:srgbClr val="0D1F30"/>
          </a:solidFill>
          <a:ln/>
          <a:effectLst>
            <a:outerShdw sx="100000" sy="100000" kx="0" ky="0" algn="bl" rotWithShape="0" blurRad="101600" dist="25400" dir="8100000">
              <a:srgbClr val="000000">
                <a:alpha val="3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02680" y="1078992"/>
            <a:ext cx="1402080" cy="54864"/>
          </a:xfrm>
          <a:prstGeom prst="rect">
            <a:avLst/>
          </a:prstGeom>
          <a:solidFill>
            <a:srgbClr val="E05C40"/>
          </a:solidFill>
          <a:ln/>
        </p:spPr>
      </p:sp>
      <p:sp>
        <p:nvSpPr>
          <p:cNvPr id="25" name="Text 23"/>
          <p:cNvSpPr/>
          <p:nvPr/>
        </p:nvSpPr>
        <p:spPr>
          <a:xfrm>
            <a:off x="6202680" y="1207008"/>
            <a:ext cx="1402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05C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202680" y="1682496"/>
            <a:ext cx="140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 sizes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696200" y="1078992"/>
            <a:ext cx="1402080" cy="1005840"/>
          </a:xfrm>
          <a:prstGeom prst="rect">
            <a:avLst/>
          </a:prstGeom>
          <a:solidFill>
            <a:srgbClr val="0D1F30"/>
          </a:solidFill>
          <a:ln/>
          <a:effectLst>
            <a:outerShdw sx="100000" sy="100000" kx="0" ky="0" algn="bl" rotWithShape="0" blurRad="101600" dist="25400" dir="8100000">
              <a:srgbClr val="000000">
                <a:alpha val="3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696200" y="1078992"/>
            <a:ext cx="1402080" cy="54864"/>
          </a:xfrm>
          <a:prstGeom prst="rect">
            <a:avLst/>
          </a:prstGeom>
          <a:solidFill>
            <a:srgbClr val="E05C40"/>
          </a:solidFill>
          <a:ln/>
        </p:spPr>
      </p:sp>
      <p:sp>
        <p:nvSpPr>
          <p:cNvPr id="29" name="Text 27"/>
          <p:cNvSpPr/>
          <p:nvPr/>
        </p:nvSpPr>
        <p:spPr>
          <a:xfrm>
            <a:off x="7696200" y="1207008"/>
            <a:ext cx="1402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05C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 pts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7696200" y="1682496"/>
            <a:ext cx="140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score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28600" y="2212848"/>
            <a:ext cx="8686800" cy="658368"/>
          </a:xfrm>
          <a:prstGeom prst="rect">
            <a:avLst/>
          </a:prstGeom>
          <a:solidFill>
            <a:srgbClr val="0D1F2A"/>
          </a:solidFill>
          <a:ln/>
          <a:effectLst>
            <a:outerShdw sx="100000" sy="100000" kx="0" ky="0" algn="bl" rotWithShape="0" blurRad="101600" dist="25400" dir="8100000">
              <a:srgbClr val="000000">
                <a:alpha val="3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65760" y="2286000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Connect rubber bands into a bungee cord. Drop an egg (sealed in a plastic bag) from a two-story railing. Stop it as close to ZERO on the Artificial Horizon chart as possible — without going PAST zero.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228600" y="2980944"/>
            <a:ext cx="4224528" cy="420624"/>
          </a:xfrm>
          <a:prstGeom prst="rect">
            <a:avLst/>
          </a:prstGeom>
          <a:solidFill>
            <a:srgbClr val="0D1F2A"/>
          </a:solidFill>
          <a:ln/>
        </p:spPr>
      </p:sp>
      <p:sp>
        <p:nvSpPr>
          <p:cNvPr id="34" name="Text 32"/>
          <p:cNvSpPr/>
          <p:nvPr/>
        </p:nvSpPr>
        <p:spPr>
          <a:xfrm>
            <a:off x="320040" y="307238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5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test: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600200" y="3072384"/>
            <a:ext cx="2770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Taken SIMULTANEOUSLY during the 25-minute build phase. Topics: Conservation of Energy, GPE, KE, EPE.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681728" y="2980944"/>
            <a:ext cx="4224528" cy="420624"/>
          </a:xfrm>
          <a:prstGeom prst="rect">
            <a:avLst/>
          </a:prstGeom>
          <a:solidFill>
            <a:srgbClr val="0D1F2A"/>
          </a:solidFill>
          <a:ln/>
        </p:spPr>
      </p:sp>
      <p:sp>
        <p:nvSpPr>
          <p:cNvPr id="37" name="Text 35"/>
          <p:cNvSpPr/>
          <p:nvPr/>
        </p:nvSpPr>
        <p:spPr>
          <a:xfrm>
            <a:off x="4773168" y="307238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5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Materials: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053328" y="3072384"/>
            <a:ext cx="2770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Rubber bands (#19/#33/#64/#117B), 50cm masking tape, 1 large egg, 1 plastic bag.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28600" y="3438144"/>
            <a:ext cx="4224528" cy="420624"/>
          </a:xfrm>
          <a:prstGeom prst="rect">
            <a:avLst/>
          </a:prstGeom>
          <a:solidFill>
            <a:srgbClr val="091520"/>
          </a:solidFill>
          <a:ln/>
        </p:spPr>
      </p:sp>
      <p:sp>
        <p:nvSpPr>
          <p:cNvPr id="40" name="Text 38"/>
          <p:cNvSpPr/>
          <p:nvPr/>
        </p:nvSpPr>
        <p:spPr>
          <a:xfrm>
            <a:off x="320040" y="352958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5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Tape restriction: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600200" y="3529584"/>
            <a:ext cx="2770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Tape may ONLY attach bungee to bag. Cannot support or strengthen the egg or bag.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681728" y="3438144"/>
            <a:ext cx="4224528" cy="420624"/>
          </a:xfrm>
          <a:prstGeom prst="rect">
            <a:avLst/>
          </a:prstGeom>
          <a:solidFill>
            <a:srgbClr val="091520"/>
          </a:solidFill>
          <a:ln/>
        </p:spPr>
      </p:sp>
      <p:sp>
        <p:nvSpPr>
          <p:cNvPr id="43" name="Text 41"/>
          <p:cNvSpPr/>
          <p:nvPr/>
        </p:nvSpPr>
        <p:spPr>
          <a:xfrm>
            <a:off x="4773168" y="352958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5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Egg inspection: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053328" y="3529584"/>
            <a:ext cx="2770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Egg rolled on paper towel after drop. Any wet area = broken = Tier 2 (−20%).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28600" y="3895344"/>
            <a:ext cx="4224528" cy="420624"/>
          </a:xfrm>
          <a:prstGeom prst="rect">
            <a:avLst/>
          </a:prstGeom>
          <a:solidFill>
            <a:srgbClr val="0D1F2A"/>
          </a:solidFill>
          <a:ln/>
        </p:spPr>
      </p:sp>
      <p:sp>
        <p:nvSpPr>
          <p:cNvPr id="46" name="Text 44"/>
          <p:cNvSpPr/>
          <p:nvPr/>
        </p:nvSpPr>
        <p:spPr>
          <a:xfrm>
            <a:off x="320040" y="398678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5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drops: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600200" y="3986784"/>
            <a:ext cx="2770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adjust bungee between drops. Best drop score is used in scoring.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681728" y="3895344"/>
            <a:ext cx="4224528" cy="420624"/>
          </a:xfrm>
          <a:prstGeom prst="rect">
            <a:avLst/>
          </a:prstGeom>
          <a:solidFill>
            <a:srgbClr val="0D1F2A"/>
          </a:solidFill>
          <a:ln/>
        </p:spPr>
      </p:sp>
      <p:sp>
        <p:nvSpPr>
          <p:cNvPr id="49" name="Text 47"/>
          <p:cNvSpPr/>
          <p:nvPr/>
        </p:nvSpPr>
        <p:spPr>
          <a:xfrm>
            <a:off x="4773168" y="398678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5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Estimate: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053328" y="3986784"/>
            <a:ext cx="2770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announce estimated stop distance to supervisor. This is Tiebreaker 1!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28600" y="4352544"/>
            <a:ext cx="4224528" cy="420624"/>
          </a:xfrm>
          <a:prstGeom prst="rect">
            <a:avLst/>
          </a:prstGeom>
          <a:solidFill>
            <a:srgbClr val="091520"/>
          </a:solidFill>
          <a:ln/>
        </p:spPr>
      </p:sp>
      <p:sp>
        <p:nvSpPr>
          <p:cNvPr id="52" name="Text 50"/>
          <p:cNvSpPr/>
          <p:nvPr/>
        </p:nvSpPr>
        <p:spPr>
          <a:xfrm>
            <a:off x="320040" y="444398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5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Safety: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1600200" y="4443984"/>
            <a:ext cx="2770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 Z87 D3 splash/droplet GOGGLES (full seal) required. NOT just impact glasses.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681728" y="4352544"/>
            <a:ext cx="4224528" cy="420624"/>
          </a:xfrm>
          <a:prstGeom prst="rect">
            <a:avLst/>
          </a:prstGeom>
          <a:solidFill>
            <a:srgbClr val="091520"/>
          </a:solidFill>
          <a:ln/>
        </p:spPr>
      </p:sp>
      <p:sp>
        <p:nvSpPr>
          <p:cNvPr id="55" name="Text 53"/>
          <p:cNvSpPr/>
          <p:nvPr/>
        </p:nvSpPr>
        <p:spPr>
          <a:xfrm>
            <a:off x="4773168" y="444398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5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3: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053328" y="4443984"/>
            <a:ext cx="2770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not follow Spirit of the Problem = −30% penalty.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5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86968"/>
            <a:ext cx="9144000" cy="45720"/>
          </a:xfrm>
          <a:prstGeom prst="rect">
            <a:avLst/>
          </a:prstGeom>
          <a:solidFill>
            <a:srgbClr val="E05C4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🏅  Official Scoring Formula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092440" y="137160"/>
            <a:ext cx="822960" cy="603504"/>
          </a:xfrm>
          <a:prstGeom prst="rect">
            <a:avLst/>
          </a:prstGeom>
          <a:solidFill>
            <a:srgbClr val="E05C40"/>
          </a:solidFill>
          <a:ln/>
          <a:effectLst>
            <a:outerShdw sx="100000" sy="100000" kx="0" ky="0" algn="bl" rotWithShape="0" blurRad="101600" dist="25400" dir="8100000">
              <a:srgbClr val="000000">
                <a:alpha val="3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092440" y="137160"/>
            <a:ext cx="8229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Scoring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0C14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7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Bungee Egg Drop  •  Slide 2 of 10  •  VA Division A 2025–2026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" y="1051560"/>
            <a:ext cx="8686800" cy="694944"/>
          </a:xfrm>
          <a:prstGeom prst="rect">
            <a:avLst/>
          </a:prstGeom>
          <a:solidFill>
            <a:srgbClr val="0D1F2A"/>
          </a:solidFill>
          <a:ln/>
          <a:effectLst>
            <a:outerShdw sx="100000" sy="100000" kx="0" ky="0" algn="bl" rotWithShape="0" blurRad="101600" dist="25400" dir="8100000">
              <a:srgbClr val="000000">
                <a:alpha val="3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" y="1115568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Final Score (FS) = Assessment Score (AS) + max(Drop Score 1, Drop Score 2)  •  Max = 100 points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28600" y="1865376"/>
            <a:ext cx="2011680" cy="347472"/>
          </a:xfrm>
          <a:prstGeom prst="rect">
            <a:avLst/>
          </a:prstGeom>
          <a:solidFill>
            <a:srgbClr val="E05C40">
              <a:alpha val="72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301752" y="1901952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08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Term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240280" y="1865376"/>
            <a:ext cx="4846320" cy="347472"/>
          </a:xfrm>
          <a:prstGeom prst="rect">
            <a:avLst/>
          </a:prstGeom>
          <a:solidFill>
            <a:srgbClr val="E05C40">
              <a:alpha val="72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2313432" y="1901952"/>
            <a:ext cx="4700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08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Formula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086600" y="1865376"/>
            <a:ext cx="1828800" cy="347472"/>
          </a:xfrm>
          <a:prstGeom prst="rect">
            <a:avLst/>
          </a:prstGeom>
          <a:solidFill>
            <a:srgbClr val="E05C40">
              <a:alpha val="72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7159752" y="1901952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08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28600" y="2267712"/>
            <a:ext cx="2011680" cy="329184"/>
          </a:xfrm>
          <a:prstGeom prst="rect">
            <a:avLst/>
          </a:prstGeom>
          <a:solidFill>
            <a:srgbClr val="0D1F2A"/>
          </a:solidFill>
          <a:ln/>
        </p:spPr>
      </p:sp>
      <p:sp>
        <p:nvSpPr>
          <p:cNvPr id="18" name="Text 16"/>
          <p:cNvSpPr/>
          <p:nvPr/>
        </p:nvSpPr>
        <p:spPr>
          <a:xfrm>
            <a:off x="301752" y="2322576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5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(AS)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240280" y="2267712"/>
            <a:ext cx="4846320" cy="329184"/>
          </a:xfrm>
          <a:prstGeom prst="rect">
            <a:avLst/>
          </a:prstGeom>
          <a:solidFill>
            <a:srgbClr val="0D1F2A"/>
          </a:solidFill>
          <a:ln/>
        </p:spPr>
      </p:sp>
      <p:sp>
        <p:nvSpPr>
          <p:cNvPr id="20" name="Text 18"/>
          <p:cNvSpPr/>
          <p:nvPr/>
        </p:nvSpPr>
        <p:spPr>
          <a:xfrm>
            <a:off x="2313432" y="2322576"/>
            <a:ext cx="4700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× (your Raw Assessment Score ÷ best RAS among all teams)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086600" y="2267712"/>
            <a:ext cx="1828800" cy="329184"/>
          </a:xfrm>
          <a:prstGeom prst="rect">
            <a:avLst/>
          </a:prstGeom>
          <a:solidFill>
            <a:srgbClr val="0D1F2A"/>
          </a:solidFill>
          <a:ln/>
        </p:spPr>
      </p:sp>
      <p:sp>
        <p:nvSpPr>
          <p:cNvPr id="22" name="Text 20"/>
          <p:cNvSpPr/>
          <p:nvPr/>
        </p:nvSpPr>
        <p:spPr>
          <a:xfrm>
            <a:off x="7159752" y="2322576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50 pts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28600" y="2615184"/>
            <a:ext cx="2011680" cy="329184"/>
          </a:xfrm>
          <a:prstGeom prst="rect">
            <a:avLst/>
          </a:prstGeom>
          <a:solidFill>
            <a:srgbClr val="0A1520"/>
          </a:solidFill>
          <a:ln/>
        </p:spPr>
      </p:sp>
      <p:sp>
        <p:nvSpPr>
          <p:cNvPr id="24" name="Text 22"/>
          <p:cNvSpPr/>
          <p:nvPr/>
        </p:nvSpPr>
        <p:spPr>
          <a:xfrm>
            <a:off x="301752" y="2670048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5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Score 1 (DS1)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40280" y="2615184"/>
            <a:ext cx="4846320" cy="329184"/>
          </a:xfrm>
          <a:prstGeom prst="rect">
            <a:avLst/>
          </a:prstGeom>
          <a:solidFill>
            <a:srgbClr val="0A1520"/>
          </a:solidFill>
          <a:ln/>
        </p:spPr>
      </p:sp>
      <p:sp>
        <p:nvSpPr>
          <p:cNvPr id="26" name="Text 24"/>
          <p:cNvSpPr/>
          <p:nvPr/>
        </p:nvSpPr>
        <p:spPr>
          <a:xfrm>
            <a:off x="2313432" y="2670048"/>
            <a:ext cx="4700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× (TDD − DD1) ÷ max(TDD − DD for all teams)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086600" y="2615184"/>
            <a:ext cx="1828800" cy="329184"/>
          </a:xfrm>
          <a:prstGeom prst="rect">
            <a:avLst/>
          </a:prstGeom>
          <a:solidFill>
            <a:srgbClr val="0A1520"/>
          </a:solidFill>
          <a:ln/>
        </p:spPr>
      </p:sp>
      <p:sp>
        <p:nvSpPr>
          <p:cNvPr id="28" name="Text 26"/>
          <p:cNvSpPr/>
          <p:nvPr/>
        </p:nvSpPr>
        <p:spPr>
          <a:xfrm>
            <a:off x="7159752" y="2670048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Closer = higher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28600" y="2962656"/>
            <a:ext cx="2011680" cy="329184"/>
          </a:xfrm>
          <a:prstGeom prst="rect">
            <a:avLst/>
          </a:prstGeom>
          <a:solidFill>
            <a:srgbClr val="0D1F2A"/>
          </a:solidFill>
          <a:ln/>
        </p:spPr>
      </p:sp>
      <p:sp>
        <p:nvSpPr>
          <p:cNvPr id="30" name="Text 28"/>
          <p:cNvSpPr/>
          <p:nvPr/>
        </p:nvSpPr>
        <p:spPr>
          <a:xfrm>
            <a:off x="301752" y="3017520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5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Score 2 (DS2)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240280" y="2962656"/>
            <a:ext cx="4846320" cy="329184"/>
          </a:xfrm>
          <a:prstGeom prst="rect">
            <a:avLst/>
          </a:prstGeom>
          <a:solidFill>
            <a:srgbClr val="0D1F2A"/>
          </a:solidFill>
          <a:ln/>
        </p:spPr>
      </p:sp>
      <p:sp>
        <p:nvSpPr>
          <p:cNvPr id="32" name="Text 30"/>
          <p:cNvSpPr/>
          <p:nvPr/>
        </p:nvSpPr>
        <p:spPr>
          <a:xfrm>
            <a:off x="2313432" y="3017520"/>
            <a:ext cx="4700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× (TDD − DD2) ÷ max(TDD − DD for all teams)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086600" y="2962656"/>
            <a:ext cx="1828800" cy="329184"/>
          </a:xfrm>
          <a:prstGeom prst="rect">
            <a:avLst/>
          </a:prstGeom>
          <a:solidFill>
            <a:srgbClr val="0D1F2A"/>
          </a:solidFill>
          <a:ln/>
        </p:spPr>
      </p:sp>
      <p:sp>
        <p:nvSpPr>
          <p:cNvPr id="34" name="Text 32"/>
          <p:cNvSpPr/>
          <p:nvPr/>
        </p:nvSpPr>
        <p:spPr>
          <a:xfrm>
            <a:off x="7159752" y="3017520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drop used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28600" y="3310128"/>
            <a:ext cx="2011680" cy="329184"/>
          </a:xfrm>
          <a:prstGeom prst="rect">
            <a:avLst/>
          </a:prstGeom>
          <a:solidFill>
            <a:srgbClr val="0A1520"/>
          </a:solidFill>
          <a:ln/>
        </p:spPr>
      </p:sp>
      <p:sp>
        <p:nvSpPr>
          <p:cNvPr id="36" name="Text 34"/>
          <p:cNvSpPr/>
          <p:nvPr/>
        </p:nvSpPr>
        <p:spPr>
          <a:xfrm>
            <a:off x="301752" y="3364992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5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TDD (Target Drop Distance)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240280" y="3310128"/>
            <a:ext cx="4846320" cy="329184"/>
          </a:xfrm>
          <a:prstGeom prst="rect">
            <a:avLst/>
          </a:prstGeom>
          <a:solidFill>
            <a:srgbClr val="0A1520"/>
          </a:solidFill>
          <a:ln/>
        </p:spPr>
      </p:sp>
      <p:sp>
        <p:nvSpPr>
          <p:cNvPr id="38" name="Text 36"/>
          <p:cNvSpPr/>
          <p:nvPr/>
        </p:nvSpPr>
        <p:spPr>
          <a:xfrm>
            <a:off x="2313432" y="3364992"/>
            <a:ext cx="4700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Announced distance from railing to Artificial Horizon. Minimum = 200 cm.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086600" y="3310128"/>
            <a:ext cx="1828800" cy="329184"/>
          </a:xfrm>
          <a:prstGeom prst="rect">
            <a:avLst/>
          </a:prstGeom>
          <a:solidFill>
            <a:srgbClr val="0A1520"/>
          </a:solidFill>
          <a:ln/>
        </p:spPr>
      </p:sp>
      <p:sp>
        <p:nvSpPr>
          <p:cNvPr id="40" name="Text 38"/>
          <p:cNvSpPr/>
          <p:nvPr/>
        </p:nvSpPr>
        <p:spPr>
          <a:xfrm>
            <a:off x="7159752" y="3364992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at event start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28600" y="3657600"/>
            <a:ext cx="2011680" cy="329184"/>
          </a:xfrm>
          <a:prstGeom prst="rect">
            <a:avLst/>
          </a:prstGeom>
          <a:solidFill>
            <a:srgbClr val="0D1F2A"/>
          </a:solidFill>
          <a:ln/>
        </p:spPr>
      </p:sp>
      <p:sp>
        <p:nvSpPr>
          <p:cNvPr id="42" name="Text 40"/>
          <p:cNvSpPr/>
          <p:nvPr/>
        </p:nvSpPr>
        <p:spPr>
          <a:xfrm>
            <a:off x="301752" y="3712464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5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 (Drop Distance)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240280" y="3657600"/>
            <a:ext cx="4846320" cy="329184"/>
          </a:xfrm>
          <a:prstGeom prst="rect">
            <a:avLst/>
          </a:prstGeom>
          <a:solidFill>
            <a:srgbClr val="0D1F2A"/>
          </a:solidFill>
          <a:ln/>
        </p:spPr>
      </p:sp>
      <p:sp>
        <p:nvSpPr>
          <p:cNvPr id="44" name="Text 42"/>
          <p:cNvSpPr/>
          <p:nvPr/>
        </p:nvSpPr>
        <p:spPr>
          <a:xfrm>
            <a:off x="2313432" y="3712464"/>
            <a:ext cx="4700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200cm if egg passes below horizon; else distance from horizon to lowest egg point.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086600" y="3657600"/>
            <a:ext cx="1828800" cy="329184"/>
          </a:xfrm>
          <a:prstGeom prst="rect">
            <a:avLst/>
          </a:prstGeom>
          <a:solidFill>
            <a:srgbClr val="0D1F2A"/>
          </a:solidFill>
          <a:ln/>
        </p:spPr>
      </p:sp>
      <p:sp>
        <p:nvSpPr>
          <p:cNvPr id="46" name="Text 44"/>
          <p:cNvSpPr/>
          <p:nvPr/>
        </p:nvSpPr>
        <p:spPr>
          <a:xfrm>
            <a:off x="7159752" y="3712464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slow-mo video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28600" y="4005072"/>
            <a:ext cx="2011680" cy="329184"/>
          </a:xfrm>
          <a:prstGeom prst="rect">
            <a:avLst/>
          </a:prstGeom>
          <a:solidFill>
            <a:srgbClr val="0A1520"/>
          </a:solidFill>
          <a:ln/>
        </p:spPr>
      </p:sp>
      <p:sp>
        <p:nvSpPr>
          <p:cNvPr id="48" name="Text 46"/>
          <p:cNvSpPr/>
          <p:nvPr/>
        </p:nvSpPr>
        <p:spPr>
          <a:xfrm>
            <a:off x="301752" y="4059936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5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Tiebreaker 1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240280" y="4005072"/>
            <a:ext cx="4846320" cy="329184"/>
          </a:xfrm>
          <a:prstGeom prst="rect">
            <a:avLst/>
          </a:prstGeom>
          <a:solidFill>
            <a:srgbClr val="0A1520"/>
          </a:solidFill>
          <a:ln/>
        </p:spPr>
      </p:sp>
      <p:sp>
        <p:nvSpPr>
          <p:cNvPr id="50" name="Text 48"/>
          <p:cNvSpPr/>
          <p:nvPr/>
        </p:nvSpPr>
        <p:spPr>
          <a:xfrm>
            <a:off x="2313432" y="4059936"/>
            <a:ext cx="4700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difference between your ESTIMATED and ACTUAL drop distance.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7086600" y="4005072"/>
            <a:ext cx="1828800" cy="329184"/>
          </a:xfrm>
          <a:prstGeom prst="rect">
            <a:avLst/>
          </a:prstGeom>
          <a:solidFill>
            <a:srgbClr val="0A1520"/>
          </a:solidFill>
          <a:ln/>
        </p:spPr>
      </p:sp>
      <p:sp>
        <p:nvSpPr>
          <p:cNvPr id="52" name="Text 50"/>
          <p:cNvSpPr/>
          <p:nvPr/>
        </p:nvSpPr>
        <p:spPr>
          <a:xfrm>
            <a:off x="7159752" y="4059936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Announce carefully!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228600" y="4352544"/>
            <a:ext cx="2011680" cy="329184"/>
          </a:xfrm>
          <a:prstGeom prst="rect">
            <a:avLst/>
          </a:prstGeom>
          <a:solidFill>
            <a:srgbClr val="0D1F2A"/>
          </a:solidFill>
          <a:ln/>
        </p:spPr>
      </p:sp>
      <p:sp>
        <p:nvSpPr>
          <p:cNvPr id="54" name="Text 52"/>
          <p:cNvSpPr/>
          <p:nvPr/>
        </p:nvSpPr>
        <p:spPr>
          <a:xfrm>
            <a:off x="301752" y="4407408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5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Tiebreaker 2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240280" y="4352544"/>
            <a:ext cx="4846320" cy="329184"/>
          </a:xfrm>
          <a:prstGeom prst="rect">
            <a:avLst/>
          </a:prstGeom>
          <a:solidFill>
            <a:srgbClr val="0D1F2A"/>
          </a:solidFill>
          <a:ln/>
        </p:spPr>
      </p:sp>
      <p:sp>
        <p:nvSpPr>
          <p:cNvPr id="56" name="Text 54"/>
          <p:cNvSpPr/>
          <p:nvPr/>
        </p:nvSpPr>
        <p:spPr>
          <a:xfrm>
            <a:off x="2313432" y="4407408"/>
            <a:ext cx="4700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answers on selected written assessment questions.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7086600" y="4352544"/>
            <a:ext cx="1828800" cy="329184"/>
          </a:xfrm>
          <a:prstGeom prst="rect">
            <a:avLst/>
          </a:prstGeom>
          <a:solidFill>
            <a:srgbClr val="0D1F2A"/>
          </a:solidFill>
          <a:ln/>
        </p:spPr>
      </p:sp>
      <p:sp>
        <p:nvSpPr>
          <p:cNvPr id="58" name="Text 56"/>
          <p:cNvSpPr/>
          <p:nvPr/>
        </p:nvSpPr>
        <p:spPr>
          <a:xfrm>
            <a:off x="7159752" y="4407408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your formulas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228600" y="4754880"/>
            <a:ext cx="8686800" cy="292608"/>
          </a:xfrm>
          <a:prstGeom prst="rect">
            <a:avLst/>
          </a:prstGeom>
          <a:solidFill>
            <a:srgbClr val="080F18"/>
          </a:solidFill>
          <a:ln/>
          <a:effectLst>
            <a:outerShdw sx="100000" sy="100000" kx="0" ky="0" algn="bl" rotWithShape="0" blurRad="101600" dist="25400" dir="8100000">
              <a:srgbClr val="000000">
                <a:alpha val="32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365760" y="4791456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E05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Example: TDD=400cm. RAS=6, best=9 → AS=33.33. 2nd drop DD=13cm, best DD=7cm → DS2=(400−13)÷(400−7)×50=49.24. Final Score = 82.57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5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86968"/>
            <a:ext cx="9144000" cy="45720"/>
          </a:xfrm>
          <a:prstGeom prst="rect">
            <a:avLst/>
          </a:prstGeom>
          <a:solidFill>
            <a:srgbClr val="E05C4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 The Artificial Horizon — Explained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092440" y="137160"/>
            <a:ext cx="822960" cy="603504"/>
          </a:xfrm>
          <a:prstGeom prst="rect">
            <a:avLst/>
          </a:prstGeom>
          <a:solidFill>
            <a:srgbClr val="E05C40"/>
          </a:solidFill>
          <a:ln/>
          <a:effectLst>
            <a:outerShdw sx="100000" sy="100000" kx="0" ky="0" algn="bl" rotWithShape="0" blurRad="101600" dist="25400" dir="8100000">
              <a:srgbClr val="000000">
                <a:alpha val="3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092440" y="137160"/>
            <a:ext cx="8229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Horizon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0C14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7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Bungee Egg Drop  •  Slide 3 of 10  •  VA Division A 2025–2026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" y="1078992"/>
            <a:ext cx="3931920" cy="3657600"/>
          </a:xfrm>
          <a:prstGeom prst="rect">
            <a:avLst/>
          </a:prstGeom>
          <a:solidFill>
            <a:srgbClr val="0D1F2A"/>
          </a:solidFill>
          <a:ln/>
          <a:effectLst>
            <a:outerShdw sx="100000" sy="100000" kx="0" ky="0" algn="bl" rotWithShape="0" blurRad="101600" dist="25400" dir="8100000">
              <a:srgbClr val="000000">
                <a:alpha val="3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" y="115214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5C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ARTIFICIAL HORIZON CHART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1517904"/>
            <a:ext cx="1188720" cy="384048"/>
          </a:xfrm>
          <a:prstGeom prst="rect">
            <a:avLst/>
          </a:prstGeom>
          <a:solidFill>
            <a:srgbClr val="4FC3F7">
              <a:alpha val="6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" y="1591056"/>
            <a:ext cx="1133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+100cm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600200" y="1609344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short — cord too stiff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1956816"/>
            <a:ext cx="1188720" cy="384048"/>
          </a:xfrm>
          <a:prstGeom prst="rect">
            <a:avLst/>
          </a:prstGeom>
          <a:solidFill>
            <a:srgbClr val="7BC67E">
              <a:alpha val="6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347472" y="2029968"/>
            <a:ext cx="1133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C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+50cm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600200" y="2048256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— close to target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2395728"/>
            <a:ext cx="1188720" cy="384048"/>
          </a:xfrm>
          <a:prstGeom prst="rect">
            <a:avLst/>
          </a:prstGeom>
          <a:solidFill>
            <a:srgbClr val="F5C842">
              <a:alpha val="6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347472" y="2468880"/>
            <a:ext cx="1133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= Horizon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600200" y="2487168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— maximum score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2834640"/>
            <a:ext cx="1188720" cy="384048"/>
          </a:xfrm>
          <a:prstGeom prst="rect">
            <a:avLst/>
          </a:prstGeom>
          <a:solidFill>
            <a:srgbClr val="E05C40">
              <a:alpha val="6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" y="2907792"/>
            <a:ext cx="1133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05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−50cm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600200" y="2926080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 through — 200cm penalty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3273552"/>
            <a:ext cx="1188720" cy="384048"/>
          </a:xfrm>
          <a:prstGeom prst="rect">
            <a:avLst/>
          </a:prstGeom>
          <a:solidFill>
            <a:srgbClr val="E05C40">
              <a:alpha val="6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347472" y="3346704"/>
            <a:ext cx="1133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05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−100cm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600200" y="3364992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 — DD = 200cm (worst)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20040" y="374904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7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chart is mounted on a wall. Supervisor records the lowest point the egg reaches in slow-motion video.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297680" y="1078992"/>
            <a:ext cx="4572000" cy="658368"/>
          </a:xfrm>
          <a:prstGeom prst="rect">
            <a:avLst/>
          </a:prstGeom>
          <a:solidFill>
            <a:srgbClr val="0D1F2A"/>
          </a:solidFill>
          <a:ln/>
          <a:effectLst>
            <a:outerShdw sx="100000" sy="100000" kx="0" ky="0" algn="bl" rotWithShape="0" blurRad="101600" dist="25400" dir="8100000">
              <a:srgbClr val="000000">
                <a:alpha val="3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297680" y="1078992"/>
            <a:ext cx="347472" cy="658368"/>
          </a:xfrm>
          <a:prstGeom prst="rect">
            <a:avLst/>
          </a:prstGeom>
          <a:solidFill>
            <a:srgbClr val="4FC3F7">
              <a:alpha val="65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4297680" y="1078992"/>
            <a:ext cx="3474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C3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718304" y="1124712"/>
            <a:ext cx="4078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Attach bungee to Retaining Hook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18304" y="1408176"/>
            <a:ext cx="4078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END opposite the egg attaches to the hook. Rubber bands hang loose over front of platform.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297680" y="1810512"/>
            <a:ext cx="4572000" cy="658368"/>
          </a:xfrm>
          <a:prstGeom prst="rect">
            <a:avLst/>
          </a:prstGeom>
          <a:solidFill>
            <a:srgbClr val="0D1F2A"/>
          </a:solidFill>
          <a:ln/>
          <a:effectLst>
            <a:outerShdw sx="100000" sy="100000" kx="0" ky="0" algn="bl" rotWithShape="0" blurRad="101600" dist="25400" dir="8100000">
              <a:srgbClr val="000000">
                <a:alpha val="3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297680" y="1810512"/>
            <a:ext cx="347472" cy="658368"/>
          </a:xfrm>
          <a:prstGeom prst="rect">
            <a:avLst/>
          </a:prstGeom>
          <a:solidFill>
            <a:srgbClr val="7BC67E">
              <a:alpha val="65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4297680" y="1810512"/>
            <a:ext cx="3474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BC6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718304" y="1856232"/>
            <a:ext cx="4078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Hold egg vertical at platform edge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718304" y="2139696"/>
            <a:ext cx="4078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the egg (in bag) at the end of the jump platform in a VERTICAL position. Any holding style is fine.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297680" y="2542032"/>
            <a:ext cx="4572000" cy="658368"/>
          </a:xfrm>
          <a:prstGeom prst="rect">
            <a:avLst/>
          </a:prstGeom>
          <a:solidFill>
            <a:srgbClr val="0D1F2A"/>
          </a:solidFill>
          <a:ln/>
          <a:effectLst>
            <a:outerShdw sx="100000" sy="100000" kx="0" ky="0" algn="bl" rotWithShape="0" blurRad="101600" dist="25400" dir="8100000">
              <a:srgbClr val="000000">
                <a:alpha val="3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297680" y="2542032"/>
            <a:ext cx="347472" cy="658368"/>
          </a:xfrm>
          <a:prstGeom prst="rect">
            <a:avLst/>
          </a:prstGeom>
          <a:solidFill>
            <a:srgbClr val="E05C40">
              <a:alpha val="65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4297680" y="2542032"/>
            <a:ext cx="3474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5C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4718304" y="2587752"/>
            <a:ext cx="4078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Countdown and open hand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718304" y="2871216"/>
            <a:ext cx="4078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"3, 2, 1, drop" — OPEN hand. DO NOT push the egg. Any upward movement = violation.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297680" y="3273552"/>
            <a:ext cx="4572000" cy="658368"/>
          </a:xfrm>
          <a:prstGeom prst="rect">
            <a:avLst/>
          </a:prstGeom>
          <a:solidFill>
            <a:srgbClr val="0D1F2A"/>
          </a:solidFill>
          <a:ln/>
          <a:effectLst>
            <a:outerShdw sx="100000" sy="100000" kx="0" ky="0" algn="bl" rotWithShape="0" blurRad="101600" dist="25400" dir="8100000">
              <a:srgbClr val="000000">
                <a:alpha val="3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297680" y="3273552"/>
            <a:ext cx="347472" cy="658368"/>
          </a:xfrm>
          <a:prstGeom prst="rect">
            <a:avLst/>
          </a:prstGeom>
          <a:solidFill>
            <a:srgbClr val="F5C842">
              <a:alpha val="65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4297680" y="3273552"/>
            <a:ext cx="3474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C8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4718304" y="3319272"/>
            <a:ext cx="4078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Adjust between drops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718304" y="3602736"/>
            <a:ext cx="4078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Went past zero? Add shorter/stiffer bands. Stopped too high? Add longer bands or remove short ones.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297680" y="4005072"/>
            <a:ext cx="4572000" cy="658368"/>
          </a:xfrm>
          <a:prstGeom prst="rect">
            <a:avLst/>
          </a:prstGeom>
          <a:solidFill>
            <a:srgbClr val="0D1F2A"/>
          </a:solidFill>
          <a:ln/>
          <a:effectLst>
            <a:outerShdw sx="100000" sy="100000" kx="0" ky="0" algn="bl" rotWithShape="0" blurRad="101600" dist="25400" dir="8100000">
              <a:srgbClr val="000000">
                <a:alpha val="3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297680" y="4005072"/>
            <a:ext cx="347472" cy="658368"/>
          </a:xfrm>
          <a:prstGeom prst="rect">
            <a:avLst/>
          </a:prstGeom>
          <a:solidFill>
            <a:srgbClr val="9B79C7">
              <a:alpha val="65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4297680" y="4005072"/>
            <a:ext cx="3474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B79C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4718304" y="4050792"/>
            <a:ext cx="4078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Egg inspection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718304" y="4334256"/>
            <a:ext cx="4078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egg from bag. Roll on paper towel. Any wet spot = broken = Tier 2. Cracks without leaking = OK.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297680" y="4736592"/>
            <a:ext cx="4572000" cy="237744"/>
          </a:xfrm>
          <a:prstGeom prst="rect">
            <a:avLst/>
          </a:prstGeom>
          <a:solidFill>
            <a:srgbClr val="080F18"/>
          </a:solidFill>
          <a:ln/>
          <a:effectLst>
            <a:outerShdw sx="100000" sy="100000" kx="0" ky="0" algn="bl" rotWithShape="0" blurRad="101600" dist="25400" dir="8100000">
              <a:srgbClr val="000000">
                <a:alpha val="32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4389120" y="475488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records: estimate, slow-mo video, distance to nearest 1cm, written assessment scores.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5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86968"/>
            <a:ext cx="9144000" cy="45720"/>
          </a:xfrm>
          <a:prstGeom prst="rect">
            <a:avLst/>
          </a:prstGeom>
          <a:solidFill>
            <a:srgbClr val="E05C4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🔗  Bungee Design Strategy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092440" y="137160"/>
            <a:ext cx="822960" cy="603504"/>
          </a:xfrm>
          <a:prstGeom prst="rect">
            <a:avLst/>
          </a:prstGeom>
          <a:solidFill>
            <a:srgbClr val="E05C40"/>
          </a:solidFill>
          <a:ln/>
          <a:effectLst>
            <a:outerShdw sx="100000" sy="100000" kx="0" ky="0" algn="bl" rotWithShape="0" blurRad="101600" dist="25400" dir="8100000">
              <a:srgbClr val="000000">
                <a:alpha val="3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092440" y="137160"/>
            <a:ext cx="8229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0C14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7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Bungee Egg Drop  •  Slide 4 of 10  •  VA Division A 2025–2026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" y="1078992"/>
            <a:ext cx="2743200" cy="3730752"/>
          </a:xfrm>
          <a:prstGeom prst="rect">
            <a:avLst/>
          </a:prstGeom>
          <a:solidFill>
            <a:srgbClr val="0D1F30"/>
          </a:solidFill>
          <a:ln/>
          <a:effectLst>
            <a:outerShdw sx="100000" sy="100000" kx="0" ky="0" algn="bl" rotWithShape="0" blurRad="101600" dist="25400" dir="8100000">
              <a:srgbClr val="000000">
                <a:alpha val="3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1078992"/>
            <a:ext cx="2743200" cy="329184"/>
          </a:xfrm>
          <a:prstGeom prst="rect">
            <a:avLst/>
          </a:prstGeom>
          <a:solidFill>
            <a:srgbClr val="E05C40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11155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05C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RUBBER BAND SIZES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20040" y="1481328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#19 — shortest, stiffest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0040" y="1956816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#33 — medium length/stiffness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0040" y="2432304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#64 — longer, softer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0040" y="2907792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#117B — longest, most stretch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0040" y="338328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SERIES (end-to-end): longer cord, more total stretch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0040" y="3858768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PARALLEL (side-by-side): stiffer cord, less stretch per force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0040" y="4334256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Cut bands to make them shorter and stiffer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127248" y="1078992"/>
            <a:ext cx="2743200" cy="3730752"/>
          </a:xfrm>
          <a:prstGeom prst="rect">
            <a:avLst/>
          </a:prstGeom>
          <a:solidFill>
            <a:srgbClr val="0D1F30"/>
          </a:solidFill>
          <a:ln/>
          <a:effectLst>
            <a:outerShdw sx="100000" sy="100000" kx="0" ky="0" algn="bl" rotWithShape="0" blurRad="101600" dist="25400" dir="8100000">
              <a:srgbClr val="000000">
                <a:alpha val="3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127248" y="1078992"/>
            <a:ext cx="2743200" cy="329184"/>
          </a:xfrm>
          <a:prstGeom prst="rect">
            <a:avLst/>
          </a:prstGeom>
          <a:solidFill>
            <a:srgbClr val="4FC3F7">
              <a:alpha val="7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3218688" y="11155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4FC3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CALIBRATING YOUR BUNGEE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218688" y="1481328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At start: supervisor announces TDD (target distance)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18688" y="1956816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Calculate: bungee length + max stretch = approx TDD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18688" y="2432304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Test on floor: hang egg from fixed point, measure stretch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18688" y="2907792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Stopped short? Add longer bands or remove short ones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218688" y="338328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Went past zero? Add shorter/stiffer bands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218688" y="3858768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First drop = data. Adjust. Second drop = score attempt.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18688" y="4334256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Write your estimate carefully — Tiebreaker 1!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16752" y="1078992"/>
            <a:ext cx="2898648" cy="3730752"/>
          </a:xfrm>
          <a:prstGeom prst="rect">
            <a:avLst/>
          </a:prstGeom>
          <a:solidFill>
            <a:srgbClr val="0D1F30"/>
          </a:solidFill>
          <a:ln/>
          <a:effectLst>
            <a:outerShdw sx="100000" sy="100000" kx="0" ky="0" algn="bl" rotWithShape="0" blurRad="101600" dist="25400" dir="8100000">
              <a:srgbClr val="000000">
                <a:alpha val="3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16752" y="1078992"/>
            <a:ext cx="2898648" cy="329184"/>
          </a:xfrm>
          <a:prstGeom prst="rect">
            <a:avLst/>
          </a:prstGeom>
          <a:solidFill>
            <a:srgbClr val="F5C842">
              <a:alpha val="7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6108192" y="1115568"/>
            <a:ext cx="2715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5C8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ENERGY FORMULAS FOR THE TEST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108192" y="1481328"/>
            <a:ext cx="27157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GPE = m × g × h  (gravity PE)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108192" y="1956816"/>
            <a:ext cx="27157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KE  = ½ × m × v²  (kinetic energy)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108192" y="2432304"/>
            <a:ext cx="27157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EPE = ½ × k × x²  (elastic PE)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108192" y="2907792"/>
            <a:ext cx="27157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At top: ALL energy is GPE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108192" y="3383280"/>
            <a:ext cx="27157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Falling freely: GPE → KE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108192" y="3858768"/>
            <a:ext cx="27157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Bands stretching: KE → EPE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108192" y="4334256"/>
            <a:ext cx="27157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Lowest point: ALL energy is EPE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5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86968"/>
            <a:ext cx="9144000" cy="45720"/>
          </a:xfrm>
          <a:prstGeom prst="rect">
            <a:avLst/>
          </a:prstGeom>
          <a:solidFill>
            <a:srgbClr val="E05C4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🏆  Competition Tips — How to Win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092440" y="137160"/>
            <a:ext cx="822960" cy="603504"/>
          </a:xfrm>
          <a:prstGeom prst="rect">
            <a:avLst/>
          </a:prstGeom>
          <a:solidFill>
            <a:srgbClr val="E05C40"/>
          </a:solidFill>
          <a:ln/>
          <a:effectLst>
            <a:outerShdw sx="100000" sy="100000" kx="0" ky="0" algn="bl" rotWithShape="0" blurRad="101600" dist="25400" dir="8100000">
              <a:srgbClr val="000000">
                <a:alpha val="3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092440" y="137160"/>
            <a:ext cx="8229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Tips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0C14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7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Bungee Egg Drop  •  Slide 5 of 10  •  VA Division A 2025–2026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" y="1078992"/>
            <a:ext cx="2743200" cy="1755648"/>
          </a:xfrm>
          <a:prstGeom prst="rect">
            <a:avLst/>
          </a:prstGeom>
          <a:solidFill>
            <a:srgbClr val="0D1F2A"/>
          </a:solidFill>
          <a:ln/>
          <a:effectLst>
            <a:outerShdw sx="100000" sy="100000" kx="0" ky="0" algn="bl" rotWithShape="0" blurRad="101600" dist="25400" dir="8100000">
              <a:srgbClr val="000000">
                <a:alpha val="3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1078992"/>
            <a:ext cx="2743200" cy="36576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1" name="Text 9"/>
          <p:cNvSpPr/>
          <p:nvPr/>
        </p:nvSpPr>
        <p:spPr>
          <a:xfrm>
            <a:off x="228600" y="117043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FC3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20040" y="1591056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C3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D3 goggles — not just glasses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" y="1975104"/>
            <a:ext cx="2578608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Full-seal ANSI Z87 D3 (splash-rated) goggles are required. Regular impact glasses are NOT sufficient. Check "D3" on the label. Without them: no-show score.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127248" y="1078992"/>
            <a:ext cx="2743200" cy="1755648"/>
          </a:xfrm>
          <a:prstGeom prst="rect">
            <a:avLst/>
          </a:prstGeom>
          <a:solidFill>
            <a:srgbClr val="0D1F2A"/>
          </a:solidFill>
          <a:ln/>
          <a:effectLst>
            <a:outerShdw sx="100000" sy="100000" kx="0" ky="0" algn="bl" rotWithShape="0" blurRad="101600" dist="25400" dir="8100000">
              <a:srgbClr val="000000">
                <a:alpha val="3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27248" y="1078992"/>
            <a:ext cx="2743200" cy="36576"/>
          </a:xfrm>
          <a:prstGeom prst="rect">
            <a:avLst/>
          </a:prstGeom>
          <a:solidFill>
            <a:srgbClr val="E05C40"/>
          </a:solidFill>
          <a:ln/>
        </p:spPr>
      </p:sp>
      <p:sp>
        <p:nvSpPr>
          <p:cNvPr id="16" name="Text 14"/>
          <p:cNvSpPr/>
          <p:nvPr/>
        </p:nvSpPr>
        <p:spPr>
          <a:xfrm>
            <a:off x="3127248" y="117043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5C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218688" y="1591056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5C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Seal the egg completely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18688" y="1975104"/>
            <a:ext cx="2578608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Seal the egg fully in the plastic bag before every drop. Any leakage after drop = broken = Tier 2 (−20%). Practice sealing quickly.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25896" y="1078992"/>
            <a:ext cx="2743200" cy="1755648"/>
          </a:xfrm>
          <a:prstGeom prst="rect">
            <a:avLst/>
          </a:prstGeom>
          <a:solidFill>
            <a:srgbClr val="0D1F2A"/>
          </a:solidFill>
          <a:ln/>
          <a:effectLst>
            <a:outerShdw sx="100000" sy="100000" kx="0" ky="0" algn="bl" rotWithShape="0" blurRad="101600" dist="25400" dir="8100000">
              <a:srgbClr val="000000">
                <a:alpha val="3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25896" y="1078992"/>
            <a:ext cx="2743200" cy="36576"/>
          </a:xfrm>
          <a:prstGeom prst="rect">
            <a:avLst/>
          </a:prstGeom>
          <a:solidFill>
            <a:srgbClr val="7BC67E"/>
          </a:solidFill>
          <a:ln/>
        </p:spPr>
      </p:sp>
      <p:sp>
        <p:nvSpPr>
          <p:cNvPr id="21" name="Text 19"/>
          <p:cNvSpPr/>
          <p:nvPr/>
        </p:nvSpPr>
        <p:spPr>
          <a:xfrm>
            <a:off x="6025896" y="117043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C6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117336" y="1591056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C6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Know your estimate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17336" y="1975104"/>
            <a:ext cx="2578608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Tiebreaker 1 is the closest estimate to actual drop distance. Time your test drops with a ruler and stopwatch. Write a precise number, not a guess.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28600" y="2980944"/>
            <a:ext cx="2743200" cy="1755648"/>
          </a:xfrm>
          <a:prstGeom prst="rect">
            <a:avLst/>
          </a:prstGeom>
          <a:solidFill>
            <a:srgbClr val="0D1F2A"/>
          </a:solidFill>
          <a:ln/>
          <a:effectLst>
            <a:outerShdw sx="100000" sy="100000" kx="0" ky="0" algn="bl" rotWithShape="0" blurRad="101600" dist="25400" dir="8100000">
              <a:srgbClr val="000000">
                <a:alpha val="3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28600" y="2980944"/>
            <a:ext cx="2743200" cy="36576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26" name="Text 24"/>
          <p:cNvSpPr/>
          <p:nvPr/>
        </p:nvSpPr>
        <p:spPr>
          <a:xfrm>
            <a:off x="228600" y="3072384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C8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20040" y="3493008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C8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Tape: attachment only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20040" y="3877056"/>
            <a:ext cx="2578608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50cm of tape is ONLY for attaching the bungee to the bag. Cannot touch the egg or reinforce the bag. Violating this = Tier 2.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127248" y="2980944"/>
            <a:ext cx="2743200" cy="1755648"/>
          </a:xfrm>
          <a:prstGeom prst="rect">
            <a:avLst/>
          </a:prstGeom>
          <a:solidFill>
            <a:srgbClr val="0D1F2A"/>
          </a:solidFill>
          <a:ln/>
          <a:effectLst>
            <a:outerShdw sx="100000" sy="100000" kx="0" ky="0" algn="bl" rotWithShape="0" blurRad="101600" dist="25400" dir="8100000">
              <a:srgbClr val="000000">
                <a:alpha val="3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127248" y="2980944"/>
            <a:ext cx="2743200" cy="36576"/>
          </a:xfrm>
          <a:prstGeom prst="rect">
            <a:avLst/>
          </a:prstGeom>
          <a:solidFill>
            <a:srgbClr val="9B79C7"/>
          </a:solidFill>
          <a:ln/>
        </p:spPr>
      </p:sp>
      <p:sp>
        <p:nvSpPr>
          <p:cNvPr id="31" name="Text 29"/>
          <p:cNvSpPr/>
          <p:nvPr/>
        </p:nvSpPr>
        <p:spPr>
          <a:xfrm>
            <a:off x="3127248" y="3072384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B79C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3218688" y="3493008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79C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drop 1 as data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218688" y="3877056"/>
            <a:ext cx="2578608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get two drops. Don't try to win on drop 1 — observe carefully where the egg stops and adjust bands accordingly. Drop 2 should be your scored attempt.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025896" y="2980944"/>
            <a:ext cx="2743200" cy="1755648"/>
          </a:xfrm>
          <a:prstGeom prst="rect">
            <a:avLst/>
          </a:prstGeom>
          <a:solidFill>
            <a:srgbClr val="0D1F2A"/>
          </a:solidFill>
          <a:ln/>
          <a:effectLst>
            <a:outerShdw sx="100000" sy="100000" kx="0" ky="0" algn="bl" rotWithShape="0" blurRad="101600" dist="25400" dir="8100000">
              <a:srgbClr val="000000">
                <a:alpha val="3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025896" y="2980944"/>
            <a:ext cx="2743200" cy="36576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36" name="Text 34"/>
          <p:cNvSpPr/>
          <p:nvPr/>
        </p:nvSpPr>
        <p:spPr>
          <a:xfrm>
            <a:off x="6025896" y="3072384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6117336" y="3493008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Study the energy formulas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117336" y="3877056"/>
            <a:ext cx="2578608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= 50 pts. Know GPE = mgh, KE = ½mv², EPE = ½kx². Know how they transform during the drop. The test happens while you build — review before you arrive.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Bungee Egg Drop — Project Slides</dc:title>
  <dc:subject>PptxGenJS Presentation</dc:subject>
  <dc:creator>PptxGenJS</dc:creator>
  <cp:lastModifiedBy>PptxGenJS</cp:lastModifiedBy>
  <cp:revision>1</cp:revision>
  <dcterms:created xsi:type="dcterms:W3CDTF">2026-03-14T19:33:53Z</dcterms:created>
  <dcterms:modified xsi:type="dcterms:W3CDTF">2026-03-14T19:33:53Z</dcterms:modified>
</cp:coreProperties>
</file>